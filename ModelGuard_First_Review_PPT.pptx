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3E845FD-E121-45DD-92A1-FE4368A5D21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cover follows the supplied MITS template. Team registration numbers and any co-guide details were not supplied and have not been invented.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Novelty is framed as a practical systems contribution: a unified evidence workflow plus offline parser testing. This is not a claim that each underlying technique is individually new.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Verified sources: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https://arxiv.org/abs/2508.15987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https://arxiv.org/abs/2410.04490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https://arxiv.org/abs/2508.19774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https://github.com/protectai/modelscan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https://github.com/ggml-org/ggml/blob/master/docs/gguf.md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https://github.com/huggingface/safetensors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https://huggingface.co/docs/transformers/en/chat_templating_writing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https://aflplus.plus/docs/fuzzing_in_depth/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https://aflplus.plus/docs/fuzzing_in_depth/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slide deliberately avoids inventing implementation progress or preliminary results. Replace each EVIDENCE NEEDED item with the team's actual artifact before submission.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M1: detect a truncated header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https://github.com/Fahad-uz/ModelGuard/blob/e0942b9cd9a0199c576ecd95855d8e3115bdd002/modelguard/parsers/gguf_parser.py#L62-L68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short read produces a controlled error with the expected and actual byte counts.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M2: detect data beyond the 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https://github.com/Fahad-uz/ModelGuard/blob/e0942b9cd9a0199c576ecd95855d8e3115bdd002/modelguard/analyzers/structure_analyzer.py#L192-L193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analyser records a GG118 finding when the declared tensor range exceeds the available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 code excerpts preserve the source tokens. Only indentation and line wrapping changed.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https://aflplus.plus/docs/fuzzing_in_depth/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 source: Zeroth Review - Group 3.pdf, supplied by the team. First-review implementation details and module allocations are proposed. No completed experiments or measured ModelGuard results are 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 were limited to sources used for the threat model, formats, template handling, fuzzing, sanitizers and testing.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https://arxiv.org/abs/2508.15987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https://arxiv.org/abs/2410.04490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https://arxiv.org/abs/2508.19774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https://github.com/protectai/modelscan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https://github.com/ggml-org/ggml/blob/master/docs/gguf.md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https://github.com/huggingface/safetensors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https://huggingface.co/docs/transformers/en/chat_templating_writing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https://aflplus.plus/docs/fuzzing_in_depth/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https://jinja.palletsprojects.com/en/stable/sandbox/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https://clang.llvm.org/docs/AddressSanitizer.html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https://clang.llvm.org/docs/UndefinedBehaviorSanitizer.html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https://docs.pytest.org/en/stable/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spcBef>
                <a:spcPts val="700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609F71-3674-4494-A853-DFA099D6536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63960" y="6221880"/>
            <a:ext cx="27324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tIns="45720" rIns="4572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arxiv.org/abs/2508.15987" TargetMode="External"/><Relationship Id="rId3" Type="http://schemas.openxmlformats.org/officeDocument/2006/relationships/hyperlink" Target="https://arxiv.org/abs/2410.04490" TargetMode="External"/><Relationship Id="rId4" Type="http://schemas.openxmlformats.org/officeDocument/2006/relationships/hyperlink" Target="https://arxiv.org/abs/2508.19774" TargetMode="External"/><Relationship Id="rId5" Type="http://schemas.openxmlformats.org/officeDocument/2006/relationships/hyperlink" Target="https://github.com/protectai/modelscan" TargetMode="External"/><Relationship Id="rId6" Type="http://schemas.openxmlformats.org/officeDocument/2006/relationships/hyperlink" Target="https://github.com/ggml-org/ggml/blob/master/docs/gguf.md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.png" descr="image.png"/>
          <p:cNvPicPr/>
          <p:nvPr/>
        </p:nvPicPr>
        <p:blipFill>
          <a:blip r:embed="rId1"/>
          <a:srcRect l="0" t="63" r="0" b="6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4" name="Rectangle"/>
          <p:cNvSpPr/>
          <p:nvPr/>
        </p:nvSpPr>
        <p:spPr>
          <a:xfrm>
            <a:off x="3276720" y="2400480"/>
            <a:ext cx="5638320" cy="1180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roject title"/>
          <p:cNvSpPr/>
          <p:nvPr/>
        </p:nvSpPr>
        <p:spPr>
          <a:xfrm>
            <a:off x="3429000" y="2448000"/>
            <a:ext cx="5333760" cy="561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Cambria"/>
                <a:ea typeface="Cambria"/>
              </a:rPr>
              <a:t>ModelGuard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roject subtitle"/>
          <p:cNvSpPr/>
          <p:nvPr/>
        </p:nvSpPr>
        <p:spPr>
          <a:xfrm>
            <a:off x="3314880" y="3009960"/>
            <a:ext cx="556236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B8141B"/>
                </a:solidFill>
                <a:effectLst/>
                <a:uFillTx/>
                <a:latin typeface="Calibri"/>
                <a:ea typeface="Calibri"/>
              </a:rPr>
              <a:t>A Unified Security Toolkit for the ML Model Supply Chain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Academic year and review"/>
          <p:cNvSpPr/>
          <p:nvPr/>
        </p:nvSpPr>
        <p:spPr>
          <a:xfrm>
            <a:off x="3238560" y="2076480"/>
            <a:ext cx="5714640" cy="285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Academic Year 2026–2027  |  Review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uide name"/>
          <p:cNvSpPr/>
          <p:nvPr/>
        </p:nvSpPr>
        <p:spPr>
          <a:xfrm>
            <a:off x="2152800" y="3724200"/>
            <a:ext cx="4000320" cy="371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 lnSpcReduction="9999"/>
          </a:bodyPr>
          <a:p>
            <a:pPr defTabSz="36576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Cambria"/>
                <a:ea typeface="Cambria"/>
              </a:rPr>
              <a:t>Mrs. Sneha Thankachan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36576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2424"/>
                </a:solidFill>
                <a:effectLst/>
                <a:uFillTx/>
                <a:latin typeface="Cambria"/>
                <a:ea typeface="Cambria"/>
              </a:rPr>
              <a:t>Asst.prof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Review date"/>
          <p:cNvSpPr/>
          <p:nvPr/>
        </p:nvSpPr>
        <p:spPr>
          <a:xfrm>
            <a:off x="2152800" y="4610160"/>
            <a:ext cx="4000320" cy="371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2424"/>
                </a:solidFill>
                <a:effectLst/>
                <a:uFillTx/>
                <a:latin typeface="Cambria"/>
                <a:ea typeface="Cambria"/>
              </a:rPr>
              <a:t>24 September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am member names"/>
          <p:cNvSpPr/>
          <p:nvPr/>
        </p:nvSpPr>
        <p:spPr>
          <a:xfrm>
            <a:off x="7182000" y="4133880"/>
            <a:ext cx="4333680" cy="1523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2424"/>
                </a:solidFill>
                <a:effectLst/>
                <a:uFillTx/>
                <a:latin typeface="Cambria"/>
                <a:ea typeface="Cambria"/>
              </a:rPr>
              <a:t>Fahad  MUT23CC027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2424"/>
                </a:solidFill>
                <a:effectLst/>
                <a:uFillTx/>
                <a:latin typeface="Cambria"/>
                <a:ea typeface="Cambria"/>
              </a:rPr>
              <a:t>Chris Paul  MUT23CC026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2424"/>
                </a:solidFill>
                <a:effectLst/>
                <a:uFillTx/>
                <a:latin typeface="Cambria"/>
                <a:ea typeface="Cambria"/>
              </a:rPr>
              <a:t>Adhwaith Krishna  MUT23CC005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42424"/>
                </a:solidFill>
                <a:effectLst/>
                <a:uFillTx/>
                <a:latin typeface="Cambria"/>
                <a:ea typeface="Cambria"/>
              </a:rPr>
              <a:t>Nadiq Aman  MUT23CC050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2.png" descr="image2.png"/>
          <p:cNvPicPr/>
          <p:nvPr/>
        </p:nvPicPr>
        <p:blipFill>
          <a:blip r:embed="rId1"/>
          <a:srcRect l="0" t="50" r="0" b="50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2" name="Rectangle"/>
          <p:cNvSpPr/>
          <p:nvPr/>
        </p:nvSpPr>
        <p:spPr>
          <a:xfrm>
            <a:off x="438120" y="266760"/>
            <a:ext cx="10172520" cy="81864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Novelty title"/>
          <p:cNvSpPr/>
          <p:nvPr/>
        </p:nvSpPr>
        <p:spPr>
          <a:xfrm>
            <a:off x="552600" y="314280"/>
            <a:ext cx="9943920" cy="666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Cambria"/>
                <a:ea typeface="Cambria"/>
              </a:rPr>
              <a:t>NOVELTY OF PROPOSED SYSTEM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search-gap label"/>
          <p:cNvSpPr/>
          <p:nvPr/>
        </p:nvSpPr>
        <p:spPr>
          <a:xfrm>
            <a:off x="685800" y="1352520"/>
            <a:ext cx="161892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D71920"/>
                </a:solidFill>
                <a:effectLst/>
                <a:uFillTx/>
                <a:latin typeface="Calibri"/>
                <a:ea typeface="Calibri"/>
              </a:rPr>
              <a:t>RESEARCH GAP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esearch-gap statement"/>
          <p:cNvSpPr/>
          <p:nvPr/>
        </p:nvSpPr>
        <p:spPr>
          <a:xfrm>
            <a:off x="2333520" y="1305000"/>
            <a:ext cx="9029520" cy="552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Existing defenses usually focus on unsafe serialization or one file format; parser robustness and chat-template evidence are still handled as separate checks.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"/>
          <p:cNvSpPr/>
          <p:nvPr/>
        </p:nvSpPr>
        <p:spPr>
          <a:xfrm>
            <a:off x="685800" y="1990800"/>
            <a:ext cx="10667520" cy="18720"/>
          </a:xfrm>
          <a:prstGeom prst="rect">
            <a:avLst/>
          </a:prstGeom>
          <a:solidFill>
            <a:srgbClr val="D7192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Novelty 01"/>
          <p:cNvSpPr/>
          <p:nvPr/>
        </p:nvSpPr>
        <p:spPr>
          <a:xfrm>
            <a:off x="685800" y="2238480"/>
            <a:ext cx="1142640" cy="523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0" u="none" strike="noStrike">
                <a:solidFill>
                  <a:srgbClr val="D71920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Unified model-package inspection"/>
          <p:cNvSpPr/>
          <p:nvPr/>
        </p:nvSpPr>
        <p:spPr>
          <a:xfrm>
            <a:off x="685800" y="2857680"/>
            <a:ext cx="3142800" cy="609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Unified model-package inspection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One workflow correlates file structure, tensor ranges and embedded chat-template findings across GGUF and safetensors."/>
          <p:cNvSpPr/>
          <p:nvPr/>
        </p:nvSpPr>
        <p:spPr>
          <a:xfrm>
            <a:off x="685800" y="3562200"/>
            <a:ext cx="3142800" cy="1618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One workflow correlates file structure, tensor ranges and embedded chat-template findings across GGUF and safetensors.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"/>
          <p:cNvSpPr/>
          <p:nvPr/>
        </p:nvSpPr>
        <p:spPr>
          <a:xfrm>
            <a:off x="3981600" y="2333520"/>
            <a:ext cx="14040" cy="2857320"/>
          </a:xfrm>
          <a:prstGeom prst="rect">
            <a:avLst/>
          </a:prstGeom>
          <a:solidFill>
            <a:srgbClr val="D5D5D5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Novelty 02"/>
          <p:cNvSpPr/>
          <p:nvPr/>
        </p:nvSpPr>
        <p:spPr>
          <a:xfrm>
            <a:off x="4210200" y="2238480"/>
            <a:ext cx="1142640" cy="523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0" u="none" strike="noStrike">
                <a:solidFill>
                  <a:srgbClr val="D71920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Dual assurance track"/>
          <p:cNvSpPr/>
          <p:nvPr/>
        </p:nvSpPr>
        <p:spPr>
          <a:xfrm>
            <a:off x="4210200" y="2857680"/>
            <a:ext cx="3142800" cy="609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Dual assurance track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ast static validation screens files before use, while offline AFL++ campaigns test selected GGUF parser builds."/>
          <p:cNvSpPr/>
          <p:nvPr/>
        </p:nvSpPr>
        <p:spPr>
          <a:xfrm>
            <a:off x="4210200" y="3562200"/>
            <a:ext cx="3142800" cy="1618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Fast static validation screens files before use, while offline AFL++ campaigns test selected GGUF parser builds.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Rectangle"/>
          <p:cNvSpPr/>
          <p:nvPr/>
        </p:nvSpPr>
        <p:spPr>
          <a:xfrm>
            <a:off x="7505640" y="2333520"/>
            <a:ext cx="14040" cy="2857320"/>
          </a:xfrm>
          <a:prstGeom prst="rect">
            <a:avLst/>
          </a:prstGeom>
          <a:solidFill>
            <a:srgbClr val="D5D5D5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Novelty 03"/>
          <p:cNvSpPr/>
          <p:nvPr/>
        </p:nvSpPr>
        <p:spPr>
          <a:xfrm>
            <a:off x="7734240" y="2238480"/>
            <a:ext cx="1142640" cy="523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0" u="none" strike="noStrike">
                <a:solidFill>
                  <a:srgbClr val="D71920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Coverage-aware evidence"/>
          <p:cNvSpPr/>
          <p:nvPr/>
        </p:nvSpPr>
        <p:spPr>
          <a:xfrm>
            <a:off x="7734240" y="2857680"/>
            <a:ext cx="3142800" cy="609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Coverage-aware evidence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Verdicts preserve rule evidence, locations, target versions and incomplete/error states instead of a blanket safe label."/>
          <p:cNvSpPr/>
          <p:nvPr/>
        </p:nvSpPr>
        <p:spPr>
          <a:xfrm>
            <a:off x="7734240" y="3562200"/>
            <a:ext cx="3142800" cy="1618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Verdicts preserve rule evidence, locations, target versions and incomplete/error states instead of a blanket safe label.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9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Project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457200" y="114300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658440" y="134424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9"/>
          <p:cNvSpPr/>
          <p:nvPr/>
        </p:nvSpPr>
        <p:spPr>
          <a:xfrm>
            <a:off x="658440" y="1433880"/>
            <a:ext cx="36540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1143000" y="1307520"/>
            <a:ext cx="2742840" cy="24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Engineering Problem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685800" y="1801440"/>
            <a:ext cx="3154320" cy="599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Untrusted model files can expose loading software to malformed structures or unsafe metadata before inference begins.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4297680" y="114300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4498920" y="134424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4498920" y="1433880"/>
            <a:ext cx="36540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4983480" y="1307520"/>
            <a:ext cx="2742840" cy="24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Motivation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4526280" y="1801440"/>
            <a:ext cx="3154320" cy="599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Safer serialization reduces pickle-style execution risks, but parser robustness and template handling still need checks.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7"/>
          <p:cNvSpPr/>
          <p:nvPr/>
        </p:nvSpPr>
        <p:spPr>
          <a:xfrm>
            <a:off x="8138160" y="114300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8339400" y="134424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8339400" y="1433880"/>
            <a:ext cx="36540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8823960" y="1307520"/>
            <a:ext cx="2742840" cy="24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Project Need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8366760" y="1801440"/>
            <a:ext cx="3154320" cy="599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Developers need a repeatable pre-use check with clear evidence, plus a way to test the loaders themselves.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457200" y="329184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658440" y="3493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658440" y="3582720"/>
            <a:ext cx="36540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1143000" y="3456360"/>
            <a:ext cx="2742840" cy="24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Target Users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6"/>
          <p:cNvSpPr/>
          <p:nvPr/>
        </p:nvSpPr>
        <p:spPr>
          <a:xfrm>
            <a:off x="685800" y="3950280"/>
            <a:ext cx="3154320" cy="599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ML developers, MLOps and security teams, model repository operators, and maintainers of GGUF loaders.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7"/>
          <p:cNvSpPr/>
          <p:nvPr/>
        </p:nvSpPr>
        <p:spPr>
          <a:xfrm>
            <a:off x="4297680" y="329184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Shape 28"/>
          <p:cNvSpPr/>
          <p:nvPr/>
        </p:nvSpPr>
        <p:spPr>
          <a:xfrm>
            <a:off x="4498920" y="3493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4498920" y="3582720"/>
            <a:ext cx="36540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4983480" y="3456360"/>
            <a:ext cx="2742840" cy="24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Project Scope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4526280" y="3950280"/>
            <a:ext cx="3154320" cy="599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Static inspection of GGUF and safetensors, associated chat templates, and an offline fuzzing track for GGUF parsers.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2"/>
          <p:cNvSpPr/>
          <p:nvPr/>
        </p:nvSpPr>
        <p:spPr>
          <a:xfrm>
            <a:off x="8138160" y="329184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33"/>
          <p:cNvSpPr/>
          <p:nvPr/>
        </p:nvSpPr>
        <p:spPr>
          <a:xfrm>
            <a:off x="8339400" y="3493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34"/>
          <p:cNvSpPr/>
          <p:nvPr/>
        </p:nvSpPr>
        <p:spPr>
          <a:xfrm>
            <a:off x="8339400" y="3582720"/>
            <a:ext cx="36540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5"/>
          <p:cNvSpPr/>
          <p:nvPr/>
        </p:nvSpPr>
        <p:spPr>
          <a:xfrm>
            <a:off x="8823960" y="3456360"/>
            <a:ext cx="2742840" cy="24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Expected Impact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6"/>
          <p:cNvSpPr/>
          <p:nvPr/>
        </p:nvSpPr>
        <p:spPr>
          <a:xfrm>
            <a:off x="8366760" y="3950280"/>
            <a:ext cx="3154320" cy="599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Earlier detection of malformed files and suspicious templates, with reproducible parser failures for maintainers.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7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Problem Statement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457200" y="1417320"/>
            <a:ext cx="7040520" cy="3291480"/>
          </a:xfrm>
          <a:prstGeom prst="roundRect">
            <a:avLst>
              <a:gd name="adj" fmla="val 2778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 8"/>
          <p:cNvSpPr/>
          <p:nvPr/>
        </p:nvSpPr>
        <p:spPr>
          <a:xfrm>
            <a:off x="822960" y="2262960"/>
            <a:ext cx="6309000" cy="1599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Model files can contain malformed structures or unsafe metadata that reaches loading software before inference begins. ModelGuard will inspect GGUF and safetensors without executing model code, analyze chat-template metadata, and test GGUF parsers through offline fuzzing.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7818120" y="1490400"/>
            <a:ext cx="145800" cy="1458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8092440" y="1463040"/>
            <a:ext cx="352008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File Structure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8092440" y="1828800"/>
            <a:ext cx="3520080" cy="37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Invalid lengths, offsets or tensor dimensions can expose defects in model readers.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7818120" y="2633400"/>
            <a:ext cx="145800" cy="1458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8092440" y="2606040"/>
            <a:ext cx="352008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Template Metadata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8092440" y="2971800"/>
            <a:ext cx="3520080" cy="37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Templates may alter prompts or misuse capabilities exposed by their rendering environment.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7818120" y="3776400"/>
            <a:ext cx="145800" cy="1458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8092440" y="3749040"/>
            <a:ext cx="352008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Loader Robustness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8092440" y="4114800"/>
            <a:ext cx="3520080" cy="37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Static rules alone cannot establish that a parser handles every malformed input safely.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96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Related Work and Project Gap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457200" y="1141200"/>
            <a:ext cx="1124676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Relevant research and tools for model supply-chain security. Reported findings below belong to the cited studies.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4" name="Table 0"/>
          <p:cNvGraphicFramePr/>
          <p:nvPr/>
        </p:nvGraphicFramePr>
        <p:xfrm>
          <a:off x="457200" y="1508760"/>
          <a:ext cx="11246760" cy="282636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749040"/>
              </a:tblGrid>
              <a:tr h="38376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Study / Tool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solidFill>
                      <a:srgbClr val="B2212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Approach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solidFill>
                      <a:srgbClr val="B2212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Finding / Relevance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solidFill>
                      <a:srgbClr val="B22121"/>
                    </a:solidFill>
                  </a:tcPr>
                </a:tc>
              </a:tr>
              <a:tr h="38376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Kellas et al. (2025), PickleBall [1]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Library-specific loading policies for pickle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79.8% benign models loaded; all malicious examples blocked in its dataset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Casey et al. (2024) [2]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Study of unsafe serialization on Hugging Face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Documents model supply-chain exposure and detection gaps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Liu et al. (2025) [3]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Analysis of pickle loading paths and scanner bypasses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Shows limitations of existing pickle scanning coverage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ModelScan [4]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Static checks for model serialization attacks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Useful baseline on supported formats, not a GGUF parser fuzzer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GGUF / safetensors docs [5–6]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Format layouts and metadata structures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Define the structures and metadata that ModelGuard will inspect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Shape 8"/>
          <p:cNvSpPr/>
          <p:nvPr/>
        </p:nvSpPr>
        <p:spPr>
          <a:xfrm>
            <a:off x="457200" y="4381560"/>
            <a:ext cx="11246760" cy="1856880"/>
          </a:xfrm>
          <a:prstGeom prst="roundRect">
            <a:avLst>
              <a:gd name="adj" fmla="val 3019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777240" y="4559400"/>
            <a:ext cx="1060668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Key Findings and Project Gap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777240" y="4876920"/>
            <a:ext cx="10606680" cy="951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Pickle defenses address unsafe deserialization but retain security and compatibility trade-offs.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Modern model formats still need separate parser-robustness and template checks.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ModelGuard combines format validation, template evidence and offline parser testing.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9" name="Text 0"/>
          <p:cNvSpPr/>
          <p:nvPr/>
        </p:nvSpPr>
        <p:spPr>
          <a:xfrm>
            <a:off x="457200" y="315360"/>
            <a:ext cx="987516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System Architecture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457200" y="1097280"/>
            <a:ext cx="11246760" cy="1965600"/>
          </a:xfrm>
          <a:prstGeom prst="roundRect">
            <a:avLst>
              <a:gd name="adj" fmla="val 2791"/>
            </a:avLst>
          </a:prstGeom>
          <a:solidFill>
            <a:srgbClr val="F7EAEA"/>
          </a:solidFill>
          <a:ln w="12700">
            <a:solidFill>
              <a:srgbClr val="E0C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594360" y="1190880"/>
            <a:ext cx="10972440" cy="27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Static Inspection Track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621720" y="169164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694800" y="173736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Model Package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GGUF / safetensors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and tokenizer files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2560320" y="220356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2706480" y="169164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2779920" y="173736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Bounded Parser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structure 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metadata extraction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4645080" y="220356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4791600" y="169164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4864680" y="173736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Structure Checks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lengths, offsets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and tensor layout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7"/>
          <p:cNvSpPr/>
          <p:nvPr/>
        </p:nvSpPr>
        <p:spPr>
          <a:xfrm>
            <a:off x="6729840" y="220356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6876360" y="169164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6949440" y="173736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Template Checks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static analysis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and reference diff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8814960" y="220356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8961120" y="169164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9034200" y="173736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Evidence Report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verdict, locations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and coverage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3"/>
          <p:cNvSpPr/>
          <p:nvPr/>
        </p:nvSpPr>
        <p:spPr>
          <a:xfrm>
            <a:off x="457200" y="3337560"/>
            <a:ext cx="11246760" cy="1965600"/>
          </a:xfrm>
          <a:prstGeom prst="roundRect">
            <a:avLst>
              <a:gd name="adj" fmla="val 2791"/>
            </a:avLst>
          </a:prstGeom>
          <a:solidFill>
            <a:srgbClr val="F7EAEA"/>
          </a:solidFill>
          <a:ln w="12700">
            <a:solidFill>
              <a:srgbClr val="E0C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594360" y="3431160"/>
            <a:ext cx="10972440" cy="27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Offline Parser-Testing Track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621720" y="39319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694800" y="397764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Seed Corpus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small valid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GGUF files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7"/>
          <p:cNvSpPr/>
          <p:nvPr/>
        </p:nvSpPr>
        <p:spPr>
          <a:xfrm>
            <a:off x="2560320" y="444384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" name="Shape 28"/>
          <p:cNvSpPr/>
          <p:nvPr/>
        </p:nvSpPr>
        <p:spPr>
          <a:xfrm>
            <a:off x="2706480" y="39319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2779920" y="397764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AFL++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mutations guided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by coverage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0"/>
          <p:cNvSpPr/>
          <p:nvPr/>
        </p:nvSpPr>
        <p:spPr>
          <a:xfrm>
            <a:off x="4645080" y="444384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0" name="Shape 31"/>
          <p:cNvSpPr/>
          <p:nvPr/>
        </p:nvSpPr>
        <p:spPr>
          <a:xfrm>
            <a:off x="4791600" y="39319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4864680" y="397764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Target Parser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isolated build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with sanitizers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3"/>
          <p:cNvSpPr/>
          <p:nvPr/>
        </p:nvSpPr>
        <p:spPr>
          <a:xfrm>
            <a:off x="6729840" y="444384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3" name="Shape 34"/>
          <p:cNvSpPr/>
          <p:nvPr/>
        </p:nvSpPr>
        <p:spPr>
          <a:xfrm>
            <a:off x="6876360" y="39319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 35"/>
          <p:cNvSpPr/>
          <p:nvPr/>
        </p:nvSpPr>
        <p:spPr>
          <a:xfrm>
            <a:off x="6949440" y="397764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Crash Triage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reproduce 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minimize inputs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6"/>
          <p:cNvSpPr/>
          <p:nvPr/>
        </p:nvSpPr>
        <p:spPr>
          <a:xfrm>
            <a:off x="8814960" y="4443840"/>
            <a:ext cx="12780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6" name="Shape 37"/>
          <p:cNvSpPr/>
          <p:nvPr/>
        </p:nvSpPr>
        <p:spPr>
          <a:xfrm>
            <a:off x="8961120" y="3931920"/>
            <a:ext cx="1919880" cy="11883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B221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 38"/>
          <p:cNvSpPr/>
          <p:nvPr/>
        </p:nvSpPr>
        <p:spPr>
          <a:xfrm>
            <a:off x="9034200" y="3977640"/>
            <a:ext cx="1773720" cy="1096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Regression Cases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reviewed rules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and parser tests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457200" y="5610600"/>
            <a:ext cx="1124676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Offline findings feed the scanner only after validation. The production scan never runs a model or renders an untrusted template.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50" name="Text 0"/>
          <p:cNvSpPr/>
          <p:nvPr/>
        </p:nvSpPr>
        <p:spPr>
          <a:xfrm>
            <a:off x="457200" y="315360"/>
            <a:ext cx="987516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Methodology: Workflow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1307520" y="1371600"/>
            <a:ext cx="402120" cy="40212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1307520" y="1468080"/>
            <a:ext cx="40212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457200" y="1965960"/>
            <a:ext cx="2102760" cy="2011320"/>
          </a:xfrm>
          <a:prstGeom prst="roundRect">
            <a:avLst>
              <a:gd name="adj" fmla="val 318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567000" y="2103120"/>
            <a:ext cx="188316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Corpus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594360" y="2606040"/>
            <a:ext cx="1828440" cy="931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Collect valid fixtures, malformed variants and labeled template examples.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2578680" y="2889360"/>
            <a:ext cx="1825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3" name="Shape 13"/>
          <p:cNvSpPr/>
          <p:nvPr/>
        </p:nvSpPr>
        <p:spPr>
          <a:xfrm>
            <a:off x="3630240" y="1371600"/>
            <a:ext cx="402120" cy="40212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3630240" y="1468080"/>
            <a:ext cx="40212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5"/>
          <p:cNvSpPr/>
          <p:nvPr/>
        </p:nvSpPr>
        <p:spPr>
          <a:xfrm>
            <a:off x="2779920" y="1965960"/>
            <a:ext cx="2102760" cy="2011320"/>
          </a:xfrm>
          <a:prstGeom prst="roundRect">
            <a:avLst>
              <a:gd name="adj" fmla="val 318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16"/>
          <p:cNvSpPr/>
          <p:nvPr/>
        </p:nvSpPr>
        <p:spPr>
          <a:xfrm>
            <a:off x="2889360" y="2103120"/>
            <a:ext cx="188316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Parsing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2917080" y="2606040"/>
            <a:ext cx="182844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Extract metadata with format-specific limits and retain byte locations.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8"/>
          <p:cNvSpPr/>
          <p:nvPr/>
        </p:nvSpPr>
        <p:spPr>
          <a:xfrm>
            <a:off x="4901040" y="2889360"/>
            <a:ext cx="1825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9" name="Shape 19"/>
          <p:cNvSpPr/>
          <p:nvPr/>
        </p:nvSpPr>
        <p:spPr>
          <a:xfrm>
            <a:off x="5952600" y="1371600"/>
            <a:ext cx="402120" cy="40212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5952600" y="1468080"/>
            <a:ext cx="40212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1"/>
          <p:cNvSpPr/>
          <p:nvPr/>
        </p:nvSpPr>
        <p:spPr>
          <a:xfrm>
            <a:off x="5102280" y="1965960"/>
            <a:ext cx="2102760" cy="2011320"/>
          </a:xfrm>
          <a:prstGeom prst="roundRect">
            <a:avLst>
              <a:gd name="adj" fmla="val 318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5212080" y="2103120"/>
            <a:ext cx="188316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Analysis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5239440" y="2606040"/>
            <a:ext cx="182844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Run structural rules and static template checks without inference.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4"/>
          <p:cNvSpPr/>
          <p:nvPr/>
        </p:nvSpPr>
        <p:spPr>
          <a:xfrm>
            <a:off x="7223760" y="2889360"/>
            <a:ext cx="1825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5" name="Shape 25"/>
          <p:cNvSpPr/>
          <p:nvPr/>
        </p:nvSpPr>
        <p:spPr>
          <a:xfrm>
            <a:off x="8275320" y="1371600"/>
            <a:ext cx="402120" cy="40212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8275320" y="1468080"/>
            <a:ext cx="40212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7"/>
          <p:cNvSpPr/>
          <p:nvPr/>
        </p:nvSpPr>
        <p:spPr>
          <a:xfrm>
            <a:off x="7425000" y="1965960"/>
            <a:ext cx="2102760" cy="2011320"/>
          </a:xfrm>
          <a:prstGeom prst="roundRect">
            <a:avLst>
              <a:gd name="adj" fmla="val 318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7534800" y="2103120"/>
            <a:ext cx="188316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Validation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7562160" y="2606040"/>
            <a:ext cx="182844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Measure detection errors and reproduce parser failures.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30"/>
          <p:cNvSpPr/>
          <p:nvPr/>
        </p:nvSpPr>
        <p:spPr>
          <a:xfrm>
            <a:off x="9546480" y="2889360"/>
            <a:ext cx="18252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1" name="Shape 31"/>
          <p:cNvSpPr/>
          <p:nvPr/>
        </p:nvSpPr>
        <p:spPr>
          <a:xfrm>
            <a:off x="10598040" y="1371600"/>
            <a:ext cx="402120" cy="40212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 32"/>
          <p:cNvSpPr/>
          <p:nvPr/>
        </p:nvSpPr>
        <p:spPr>
          <a:xfrm>
            <a:off x="10598040" y="1468080"/>
            <a:ext cx="40212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3"/>
          <p:cNvSpPr/>
          <p:nvPr/>
        </p:nvSpPr>
        <p:spPr>
          <a:xfrm>
            <a:off x="9747360" y="1965960"/>
            <a:ext cx="2102760" cy="2011320"/>
          </a:xfrm>
          <a:prstGeom prst="roundRect">
            <a:avLst>
              <a:gd name="adj" fmla="val 318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 34"/>
          <p:cNvSpPr/>
          <p:nvPr/>
        </p:nvSpPr>
        <p:spPr>
          <a:xfrm>
            <a:off x="9857160" y="2103120"/>
            <a:ext cx="188316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Integration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5"/>
          <p:cNvSpPr/>
          <p:nvPr/>
        </p:nvSpPr>
        <p:spPr>
          <a:xfrm>
            <a:off x="9884520" y="2606040"/>
            <a:ext cx="182844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Combine CLI reports and regression tests for repeatable checks.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6"/>
          <p:cNvSpPr/>
          <p:nvPr/>
        </p:nvSpPr>
        <p:spPr>
          <a:xfrm>
            <a:off x="457200" y="4798800"/>
            <a:ext cx="11246760" cy="186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Proposed workflow: record file hashes, source revisions and rule versions so that every result can be reproduced.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88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Methodology: Static Scan Algorithm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7"/>
          <p:cNvSpPr/>
          <p:nvPr/>
        </p:nvSpPr>
        <p:spPr>
          <a:xfrm>
            <a:off x="457200" y="1101240"/>
            <a:ext cx="11246760" cy="266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Algorithm 1: Proposed ModelGuard Static Scan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8"/>
          <p:cNvSpPr/>
          <p:nvPr/>
        </p:nvSpPr>
        <p:spPr>
          <a:xfrm>
            <a:off x="457200" y="1508760"/>
            <a:ext cx="11246760" cy="4708800"/>
          </a:xfrm>
          <a:prstGeom prst="roundRect">
            <a:avLst>
              <a:gd name="adj" fmla="val 1553"/>
            </a:avLst>
          </a:prstGeom>
          <a:solidFill>
            <a:srgbClr val="FAFAFA"/>
          </a:solidFill>
          <a:ln w="12700">
            <a:solidFill>
              <a:srgbClr val="E0C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731520" y="1691640"/>
            <a:ext cx="10698120" cy="4388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tIns="114480" rIns="114480" bIns="114480" anchor="t">
            <a:normAutofit/>
          </a:bodyPr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Input: model file F, optional tokenizer files, rules R, resource limits 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Output: report containing findings, coverage and verdict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1.  Record hash, source revision and file size of F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2.  Identify the supported file format from its content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3.  If unsupported: return INCOMPLETE with the reason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4.  Parse structure and metadata under limits 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5.  If parsing fails: return ERROR with available evidence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6.  Check header consistency, tensor ranges and layout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7.  Extract the chat template if one is available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8.  Inspect template syntax and text without rendering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9.  Compare with a trusted, versioned reference when available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10. Combine rule findings and record skipped checks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11. Assign verdict from evidence and scan coverage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343434"/>
                </a:solidFill>
                <a:effectLst/>
                <a:uFillTx/>
                <a:latin typeface="Courier New"/>
                <a:ea typeface="Courier New"/>
              </a:rPr>
              <a:t>12. Export readable and JSON reports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99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Module Ownership and Individual Contribution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6" name="Table 0"/>
          <p:cNvGraphicFramePr/>
          <p:nvPr/>
        </p:nvGraphicFramePr>
        <p:xfrm>
          <a:off x="457200" y="1188720"/>
          <a:ext cx="11246760" cy="2578320"/>
        </p:xfrm>
        <a:graphic>
          <a:graphicData uri="http://schemas.openxmlformats.org/drawingml/2006/table">
            <a:tbl>
              <a:tblPr/>
              <a:tblGrid>
                <a:gridCol w="640080"/>
                <a:gridCol w="4754880"/>
                <a:gridCol w="2377440"/>
                <a:gridCol w="3474720"/>
              </a:tblGrid>
              <a:tr h="38376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ID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solidFill>
                      <a:srgbClr val="B2212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Module / Responsibility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solidFill>
                      <a:srgbClr val="B2212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Proposed Owner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solidFill>
                      <a:srgbClr val="B22121"/>
                    </a:solidFill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Planned Deliverable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solidFill>
                      <a:srgbClr val="B22121"/>
                    </a:solidFill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M1 / M2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File parser and structural checks for GGUF / safetensors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Fahad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Bounded parser, rule checks and malformed fixtures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Chat-template extraction and static analysis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Chris Paul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Template rules and trusted-reference comparison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AFL++ harness and GGUF parser crash triage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Adhwaith Krishna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Instrumented harness and reproducible test corpus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Reporting, CLI and integration testing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Nadiq Aman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rIns="45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Readable / JSON reports and integration tests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45720" marB="45720">
                    <a:lnL w="12240">
                      <a:solidFill>
                        <a:srgbClr val="E0CFCF"/>
                      </a:solidFill>
                      <a:prstDash val="solid"/>
                    </a:lnL>
                    <a:lnR w="12240">
                      <a:solidFill>
                        <a:srgbClr val="E0CFCF"/>
                      </a:solidFill>
                      <a:prstDash val="solid"/>
                    </a:lnR>
                    <a:lnT w="12240">
                      <a:solidFill>
                        <a:srgbClr val="E0CFCF"/>
                      </a:solidFill>
                      <a:prstDash val="solid"/>
                    </a:lnT>
                    <a:lnB w="12240">
                      <a:solidFill>
                        <a:srgbClr val="E0CFC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7" name="Shape 7"/>
          <p:cNvSpPr/>
          <p:nvPr/>
        </p:nvSpPr>
        <p:spPr>
          <a:xfrm>
            <a:off x="457200" y="3977640"/>
            <a:ext cx="11246760" cy="2148480"/>
          </a:xfrm>
          <a:prstGeom prst="roundRect">
            <a:avLst>
              <a:gd name="adj" fmla="val 3404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777240" y="4284360"/>
            <a:ext cx="10606680" cy="433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Each member owns a defined implementation area and must explain the design, code evidence, tests and current limitations during the review.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777240" y="4809960"/>
            <a:ext cx="10606680" cy="1332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M1: File Parser and M2: Structure Analyser share a common format schema.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M3: Template Analyser keeps code-risk and prompt-content findings separate.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M4: Fuzzing Harness produces reproducible, minimized test cases.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M5: Reporting Module preserves evidence, confidence and scan coverage.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11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Progress Since the Zeroth Review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4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8" name="Table 1"/>
          <p:cNvGraphicFramePr/>
          <p:nvPr/>
        </p:nvGraphicFramePr>
        <p:xfrm>
          <a:off x="457200" y="1143000"/>
          <a:ext cx="11246760" cy="4190760"/>
        </p:xfrm>
        <a:graphic>
          <a:graphicData uri="http://schemas.openxmlformats.org/drawingml/2006/table">
            <a:tbl>
              <a:tblPr/>
              <a:tblGrid>
                <a:gridCol w="1733400"/>
                <a:gridCol w="4476600"/>
                <a:gridCol w="5036760"/>
              </a:tblGrid>
              <a:tr h="5986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Parameter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8141B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Zeroth Review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8141B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Current Status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B8141B"/>
                    </a:solidFill>
                  </a:tcPr>
                </a:tc>
              </a:tr>
              <a:tr h="5986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424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Literature Survey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E7CCCC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Initial base papers and project motivation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Recent research plus official format, tool and testing references mapped to the gap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E7CCCC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6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424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Problem Definition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E7CCCC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Broad model-file and loading-code risks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Scoped to GGUF / safetensors structure, chat templates and GGUF parser robustness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E7CCCC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6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424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Architecture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E7CCCC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Static scanner with a parallel fuzzing concept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Module interaction, evidence flow and coverage-aware reporting defined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E7CCCC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6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424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Algorithms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E7CCCC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High-level checking concept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M1/M2 parsing, structural rules and CLI implemented; M3–M5 remain planned.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E7CCCC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6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424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Hardware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E7CCCC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Planning estimates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CPU, RAM and SSD needs stated; no model-inference GPU required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E7CCCC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8680"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42424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Software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E7CCCC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E7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Initial tool list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E7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720" rIns="45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Python 3.11 package, pytest suite and GitHub Actions CI verified.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5720" marR="4572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E7CCCC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E7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9" name="Rectangle"/>
          <p:cNvSpPr/>
          <p:nvPr/>
        </p:nvSpPr>
        <p:spPr>
          <a:xfrm>
            <a:off x="457200" y="5572080"/>
            <a:ext cx="11246760" cy="590040"/>
          </a:xfrm>
          <a:prstGeom prst="rect">
            <a:avLst/>
          </a:prstGeom>
          <a:solidFill>
            <a:srgbClr val="FFF2F2"/>
          </a:solidFill>
          <a:ln w="14288">
            <a:solidFill>
              <a:srgbClr val="D719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view guidance action"/>
          <p:cNvSpPr/>
          <p:nvPr/>
        </p:nvSpPr>
        <p:spPr>
          <a:xfrm>
            <a:off x="628560" y="5648400"/>
            <a:ext cx="10905840" cy="428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 lnSpcReduction="9999"/>
          </a:bodyPr>
          <a:p>
            <a:pPr defTabSz="905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Review guidance → action taken: novelty, individual ownership, evidence status, technology justification and a revised timeline were added. Committee-specific minutes were not supplied.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22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Development Progress and Working Evidence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11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457200" y="1280160"/>
            <a:ext cx="383760" cy="38376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457200" y="1367640"/>
            <a:ext cx="38376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1005840" y="1345320"/>
            <a:ext cx="292572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System Design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0"/>
          <p:cNvSpPr/>
          <p:nvPr/>
        </p:nvSpPr>
        <p:spPr>
          <a:xfrm>
            <a:off x="4114800" y="1261800"/>
            <a:ext cx="7589160" cy="420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COMPLETE — parser, analyser and output layers separated in code.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1"/>
          <p:cNvSpPr/>
          <p:nvPr/>
        </p:nvSpPr>
        <p:spPr>
          <a:xfrm>
            <a:off x="456840" y="1846800"/>
            <a:ext cx="11247480" cy="0"/>
          </a:xfrm>
          <a:prstGeom prst="line">
            <a:avLst/>
          </a:prstGeom>
          <a:ln w="12700">
            <a:solidFill>
              <a:srgbClr val="EB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-45720" rIns="45720" bIns="-45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457200" y="2057400"/>
            <a:ext cx="383760" cy="38376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457200" y="2144880"/>
            <a:ext cx="38376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4"/>
          <p:cNvSpPr/>
          <p:nvPr/>
        </p:nvSpPr>
        <p:spPr>
          <a:xfrm>
            <a:off x="1005840" y="2122560"/>
            <a:ext cx="292572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Static Scanner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4114800" y="2039040"/>
            <a:ext cx="7589160" cy="420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IMPLEMENTED — GGUF v2/v3 and safetensors scans produce findings.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456840" y="2624040"/>
            <a:ext cx="11247480" cy="0"/>
          </a:xfrm>
          <a:prstGeom prst="line">
            <a:avLst/>
          </a:prstGeom>
          <a:ln w="12700">
            <a:solidFill>
              <a:srgbClr val="EB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-45720" rIns="45720" bIns="-45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457200" y="2834640"/>
            <a:ext cx="383760" cy="38376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457200" y="2922120"/>
            <a:ext cx="38376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1005840" y="2899800"/>
            <a:ext cx="292572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Template Analysis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4114800" y="2816280"/>
            <a:ext cx="7589160" cy="420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PLANNED — Module 3 is outside this First Review implementation.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1"/>
          <p:cNvSpPr/>
          <p:nvPr/>
        </p:nvSpPr>
        <p:spPr>
          <a:xfrm>
            <a:off x="456840" y="3401280"/>
            <a:ext cx="11247480" cy="0"/>
          </a:xfrm>
          <a:prstGeom prst="line">
            <a:avLst/>
          </a:prstGeom>
          <a:ln w="12700">
            <a:solidFill>
              <a:srgbClr val="EB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-45720" rIns="45720" bIns="-45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457200" y="3611880"/>
            <a:ext cx="383760" cy="38376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457200" y="3699360"/>
            <a:ext cx="38376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4"/>
          <p:cNvSpPr/>
          <p:nvPr/>
        </p:nvSpPr>
        <p:spPr>
          <a:xfrm>
            <a:off x="1005840" y="3677040"/>
            <a:ext cx="292572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Fuzzing Harness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4114800" y="3593520"/>
            <a:ext cx="7589160" cy="420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PLANNED — AFL++ target and crash triage are future work.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6"/>
          <p:cNvSpPr/>
          <p:nvPr/>
        </p:nvSpPr>
        <p:spPr>
          <a:xfrm>
            <a:off x="456840" y="4178520"/>
            <a:ext cx="11247480" cy="0"/>
          </a:xfrm>
          <a:prstGeom prst="line">
            <a:avLst/>
          </a:prstGeom>
          <a:ln w="12700">
            <a:solidFill>
              <a:srgbClr val="EB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-45720" rIns="45720" bIns="-45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7"/>
          <p:cNvSpPr/>
          <p:nvPr/>
        </p:nvSpPr>
        <p:spPr>
          <a:xfrm>
            <a:off x="457200" y="4389120"/>
            <a:ext cx="383760" cy="38376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 28"/>
          <p:cNvSpPr/>
          <p:nvPr/>
        </p:nvSpPr>
        <p:spPr>
          <a:xfrm>
            <a:off x="457200" y="4476600"/>
            <a:ext cx="38376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9"/>
          <p:cNvSpPr/>
          <p:nvPr/>
        </p:nvSpPr>
        <p:spPr>
          <a:xfrm>
            <a:off x="1005840" y="4454280"/>
            <a:ext cx="292572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Initial Testing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0"/>
          <p:cNvSpPr/>
          <p:nvPr/>
        </p:nvSpPr>
        <p:spPr>
          <a:xfrm>
            <a:off x="4114800" y="4370760"/>
            <a:ext cx="7589160" cy="420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VERIFIED — 50 pytest tests pass; JSON and HTML reports are included.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"/>
          <p:cNvSpPr/>
          <p:nvPr/>
        </p:nvSpPr>
        <p:spPr>
          <a:xfrm>
            <a:off x="457200" y="5105520"/>
            <a:ext cx="11246760" cy="1047240"/>
          </a:xfrm>
          <a:prstGeom prst="rect">
            <a:avLst/>
          </a:prstGeom>
          <a:solidFill>
            <a:srgbClr val="FFF2F2"/>
          </a:solidFill>
          <a:ln w="14288">
            <a:solidFill>
              <a:srgbClr val="D719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4" name="Implementation evidence warning"/>
          <p:cNvSpPr/>
          <p:nvPr/>
        </p:nvSpPr>
        <p:spPr>
          <a:xfrm>
            <a:off x="666720" y="5229360"/>
            <a:ext cx="10820160" cy="780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8141B"/>
                </a:solidFill>
                <a:effectLst/>
                <a:uFillTx/>
                <a:latin typeface="Calibri"/>
                <a:ea typeface="Calibri"/>
              </a:rPr>
              <a:t>Evidence now available for Modules 1–2: source code, seven tiny fixtures, 50 passing tests, CLI scans and generated reports. No overall completion percentage is claimed.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ode snapshots title"/>
          <p:cNvSpPr/>
          <p:nvPr/>
        </p:nvSpPr>
        <p:spPr>
          <a:xfrm>
            <a:off x="457200" y="333360"/>
            <a:ext cx="9867600" cy="393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A92222"/>
                </a:solidFill>
                <a:effectLst/>
                <a:uFillTx/>
                <a:latin typeface="Cambria"/>
                <a:ea typeface="Cambria"/>
              </a:rPr>
              <a:t>Source code snapshots: Modules 1–2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3.png" descr="image3.png"/>
          <p:cNvPicPr/>
          <p:nvPr/>
        </p:nvPicPr>
        <p:blipFill>
          <a:blip r:embed="rId1"/>
          <a:stretch/>
        </p:blipFill>
        <p:spPr>
          <a:xfrm>
            <a:off x="10561320" y="257040"/>
            <a:ext cx="1188360" cy="54612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57" name="Code provenance"/>
          <p:cNvSpPr/>
          <p:nvPr/>
        </p:nvSpPr>
        <p:spPr>
          <a:xfrm>
            <a:off x="457200" y="971640"/>
            <a:ext cx="11277360" cy="218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D2525"/>
                </a:solidFill>
                <a:effectLst/>
                <a:uFillTx/>
                <a:latin typeface="Calibri"/>
                <a:ea typeface="Calibri"/>
              </a:rPr>
              <a:t>Committed implementation on main: e0942b9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Module heading 0"/>
          <p:cNvSpPr/>
          <p:nvPr/>
        </p:nvSpPr>
        <p:spPr>
          <a:xfrm>
            <a:off x="457200" y="1476360"/>
            <a:ext cx="5486040" cy="27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8D1A1A"/>
                </a:solidFill>
                <a:effectLst/>
                <a:uFillTx/>
                <a:latin typeface="Cambria"/>
                <a:ea typeface="Cambria"/>
              </a:rPr>
              <a:t>M1: detect a truncated header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ource location 0"/>
          <p:cNvSpPr/>
          <p:nvPr/>
        </p:nvSpPr>
        <p:spPr>
          <a:xfrm>
            <a:off x="457200" y="1886040"/>
            <a:ext cx="5486040" cy="156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2A2A"/>
                </a:solidFill>
                <a:effectLst/>
                <a:uFillTx/>
                <a:latin typeface="Calibri"/>
                <a:ea typeface="Calibri"/>
              </a:rPr>
              <a:t>modelguard/parsers/gguf_parser.py, lines 62–68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Code background 0"/>
          <p:cNvSpPr/>
          <p:nvPr/>
        </p:nvSpPr>
        <p:spPr>
          <a:xfrm>
            <a:off x="457200" y="2381400"/>
            <a:ext cx="5486040" cy="252360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1" name="Source code 0"/>
          <p:cNvSpPr/>
          <p:nvPr/>
        </p:nvSpPr>
        <p:spPr>
          <a:xfrm>
            <a:off x="609480" y="2600280"/>
            <a:ext cx="5181120" cy="1625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data = self.stream.read(size)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if len(data) != size: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raise ParserError(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    "MG103", "Truncated GGUF header", field,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    {"offset": self.position - len(data),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     "expected": size, "actual": len(data)},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return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Code explanation 0"/>
          <p:cNvSpPr/>
          <p:nvPr/>
        </p:nvSpPr>
        <p:spPr>
          <a:xfrm>
            <a:off x="495360" y="5143320"/>
            <a:ext cx="5352840" cy="485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D2525"/>
                </a:solidFill>
                <a:effectLst/>
                <a:uFillTx/>
                <a:latin typeface="Calibri"/>
                <a:ea typeface="Calibri"/>
              </a:rPr>
              <a:t>A short read produces a controlled error with the expected and actual byte counts.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Module heading 1"/>
          <p:cNvSpPr/>
          <p:nvPr/>
        </p:nvSpPr>
        <p:spPr>
          <a:xfrm>
            <a:off x="6248520" y="1476360"/>
            <a:ext cx="5486040" cy="27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8D1A1A"/>
                </a:solidFill>
                <a:effectLst/>
                <a:uFillTx/>
                <a:latin typeface="Cambria"/>
                <a:ea typeface="Cambria"/>
              </a:rPr>
              <a:t>M2: detect data beyond the file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ource location 1"/>
          <p:cNvSpPr/>
          <p:nvPr/>
        </p:nvSpPr>
        <p:spPr>
          <a:xfrm>
            <a:off x="6248520" y="1886040"/>
            <a:ext cx="5486040" cy="156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2A2A"/>
                </a:solidFill>
                <a:effectLst/>
                <a:uFillTx/>
                <a:latin typeface="Calibri"/>
                <a:ea typeface="Calibri"/>
              </a:rPr>
              <a:t>modelguard/analyzers/structure_analyzer.py, lines 192–193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Code background 1"/>
          <p:cNvSpPr/>
          <p:nvPr/>
        </p:nvSpPr>
        <p:spPr>
          <a:xfrm>
            <a:off x="6248520" y="2345400"/>
            <a:ext cx="5486040" cy="252360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6" name="Source code 1"/>
          <p:cNvSpPr/>
          <p:nvPr/>
        </p:nvSpPr>
        <p:spPr>
          <a:xfrm>
            <a:off x="6400800" y="2600280"/>
            <a:ext cx="5181120" cy="1422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if end &gt; available: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findings.append(_finding(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    "GG118", "ERROR", "bounds",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    "Tensor data extends beyond the file",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    field,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    {"end": end, "available": available}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832"/>
                </a:solidFill>
                <a:effectLst/>
                <a:uFillTx/>
                <a:latin typeface="Courier New"/>
                <a:ea typeface="Courier New"/>
              </a:rPr>
              <a:t>    ))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Code explanation 1"/>
          <p:cNvSpPr/>
          <p:nvPr/>
        </p:nvSpPr>
        <p:spPr>
          <a:xfrm>
            <a:off x="6286680" y="5143320"/>
            <a:ext cx="5352840" cy="4852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D2525"/>
                </a:solidFill>
                <a:effectLst/>
                <a:uFillTx/>
                <a:latin typeface="Calibri"/>
                <a:ea typeface="Calibri"/>
              </a:rPr>
              <a:t>The analyser records a GG118 finding when the declared tensor range exceeds the available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Code formatting note"/>
          <p:cNvSpPr/>
          <p:nvPr/>
        </p:nvSpPr>
        <p:spPr>
          <a:xfrm>
            <a:off x="457200" y="6076800"/>
            <a:ext cx="11277360" cy="156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2A2A"/>
                </a:solidFill>
                <a:effectLst/>
                <a:uFillTx/>
                <a:latin typeface="Calibri"/>
                <a:ea typeface="Calibri"/>
              </a:rPr>
              <a:t>Source excerpts. Long argument lines are wrapped for readability. Full files are included in the source snapshot ZIP.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Footer band"/>
          <p:cNvSpPr/>
          <p:nvPr/>
        </p:nvSpPr>
        <p:spPr>
          <a:xfrm>
            <a:off x="0" y="6546960"/>
            <a:ext cx="12191760" cy="310680"/>
          </a:xfrm>
          <a:prstGeom prst="rect">
            <a:avLst/>
          </a:prstGeom>
          <a:solidFill>
            <a:srgbClr val="C71F2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0" name="Footer left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1" name="Footer right"/>
          <p:cNvSpPr/>
          <p:nvPr/>
        </p:nvSpPr>
        <p:spPr>
          <a:xfrm>
            <a:off x="10088640" y="6546960"/>
            <a:ext cx="210312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2" name="Footer group"/>
          <p:cNvSpPr/>
          <p:nvPr/>
        </p:nvSpPr>
        <p:spPr>
          <a:xfrm>
            <a:off x="0" y="6639120"/>
            <a:ext cx="2102760" cy="126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Footer project"/>
          <p:cNvSpPr/>
          <p:nvPr/>
        </p:nvSpPr>
        <p:spPr>
          <a:xfrm>
            <a:off x="2103120" y="6639120"/>
            <a:ext cx="7985160" cy="126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Footer page"/>
          <p:cNvSpPr/>
          <p:nvPr/>
        </p:nvSpPr>
        <p:spPr>
          <a:xfrm>
            <a:off x="10088640" y="6639120"/>
            <a:ext cx="2103120" cy="126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Evidence title"/>
          <p:cNvSpPr/>
          <p:nvPr/>
        </p:nvSpPr>
        <p:spPr>
          <a:xfrm>
            <a:off x="457200" y="292680"/>
            <a:ext cx="2880000" cy="571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A92222"/>
                </a:solidFill>
                <a:effectLst/>
                <a:uFillTx/>
                <a:latin typeface="Cambria"/>
                <a:ea typeface="Cambria"/>
              </a:rPr>
              <a:t>Working scan: GGUF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3.png" descr="image3.png"/>
          <p:cNvPicPr/>
          <p:nvPr/>
        </p:nvPicPr>
        <p:blipFill>
          <a:blip r:embed="rId1"/>
          <a:stretch/>
        </p:blipFill>
        <p:spPr>
          <a:xfrm>
            <a:off x="10561320" y="257040"/>
            <a:ext cx="1188360" cy="54612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77" name="Footer red band"/>
          <p:cNvSpPr/>
          <p:nvPr/>
        </p:nvSpPr>
        <p:spPr>
          <a:xfrm>
            <a:off x="0" y="6546960"/>
            <a:ext cx="12191760" cy="310680"/>
          </a:xfrm>
          <a:prstGeom prst="rect">
            <a:avLst/>
          </a:prstGeom>
          <a:solidFill>
            <a:srgbClr val="C71F2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8" name="Footer left panel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9" name="Footer right panel"/>
          <p:cNvSpPr/>
          <p:nvPr/>
        </p:nvSpPr>
        <p:spPr>
          <a:xfrm>
            <a:off x="10088640" y="6546960"/>
            <a:ext cx="210312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0" name="Footer group"/>
          <p:cNvSpPr/>
          <p:nvPr/>
        </p:nvSpPr>
        <p:spPr>
          <a:xfrm>
            <a:off x="855360" y="6546960"/>
            <a:ext cx="39240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Footer project"/>
          <p:cNvSpPr/>
          <p:nvPr/>
        </p:nvSpPr>
        <p:spPr>
          <a:xfrm>
            <a:off x="4849920" y="6546960"/>
            <a:ext cx="24915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Footer page"/>
          <p:cNvSpPr/>
          <p:nvPr/>
        </p:nvSpPr>
        <p:spPr>
          <a:xfrm>
            <a:off x="10967760" y="6546960"/>
            <a:ext cx="34488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13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Evidence description"/>
          <p:cNvSpPr/>
          <p:nvPr/>
        </p:nvSpPr>
        <p:spPr>
          <a:xfrm>
            <a:off x="762120" y="961920"/>
            <a:ext cx="6938280" cy="380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51515"/>
                </a:solidFill>
                <a:effectLst/>
                <a:uFillTx/>
                <a:latin typeface="Calibri"/>
                <a:ea typeface="Calibri"/>
              </a:rPr>
              <a:t>Synthetic GGUF v3 fixture • metadata and tensor descriptor parsed • 0 findings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creenshot backing"/>
          <p:cNvSpPr/>
          <p:nvPr/>
        </p:nvSpPr>
        <p:spPr>
          <a:xfrm>
            <a:off x="647640" y="1343160"/>
            <a:ext cx="10896120" cy="480960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85" name="image14.png" descr="image14.png"/>
          <p:cNvPicPr/>
          <p:nvPr/>
        </p:nvPicPr>
        <p:blipFill>
          <a:blip r:embed="rId2"/>
          <a:stretch/>
        </p:blipFill>
        <p:spPr>
          <a:xfrm>
            <a:off x="1970640" y="1305000"/>
            <a:ext cx="8250840" cy="471456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86" name="Evidence command"/>
          <p:cNvSpPr/>
          <p:nvPr/>
        </p:nvSpPr>
        <p:spPr>
          <a:xfrm>
            <a:off x="762120" y="6181560"/>
            <a:ext cx="4208400" cy="380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2A2A"/>
                </a:solidFill>
                <a:effectLst/>
                <a:uFillTx/>
                <a:latin typeface="Calibri"/>
                <a:ea typeface="Calibri"/>
              </a:rPr>
              <a:t>Command: python3 -m modelguard scan samples/valid_model.gguf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Evidence title"/>
          <p:cNvSpPr/>
          <p:nvPr/>
        </p:nvSpPr>
        <p:spPr>
          <a:xfrm>
            <a:off x="457200" y="292680"/>
            <a:ext cx="3695040" cy="571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A92222"/>
                </a:solidFill>
                <a:effectLst/>
                <a:uFillTx/>
                <a:latin typeface="Cambria"/>
                <a:ea typeface="Cambria"/>
              </a:rPr>
              <a:t>Working scan: safetensors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image3.png" descr="image3.png"/>
          <p:cNvPicPr/>
          <p:nvPr/>
        </p:nvPicPr>
        <p:blipFill>
          <a:blip r:embed="rId1"/>
          <a:stretch/>
        </p:blipFill>
        <p:spPr>
          <a:xfrm>
            <a:off x="10561320" y="257040"/>
            <a:ext cx="1188360" cy="54612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89" name="Footer red band"/>
          <p:cNvSpPr/>
          <p:nvPr/>
        </p:nvSpPr>
        <p:spPr>
          <a:xfrm>
            <a:off x="0" y="6546960"/>
            <a:ext cx="12191760" cy="310680"/>
          </a:xfrm>
          <a:prstGeom prst="rect">
            <a:avLst/>
          </a:prstGeom>
          <a:solidFill>
            <a:srgbClr val="C71F2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0" name="Footer left panel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1" name="Footer right panel"/>
          <p:cNvSpPr/>
          <p:nvPr/>
        </p:nvSpPr>
        <p:spPr>
          <a:xfrm>
            <a:off x="10088640" y="6546960"/>
            <a:ext cx="210312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2" name="Footer group"/>
          <p:cNvSpPr/>
          <p:nvPr/>
        </p:nvSpPr>
        <p:spPr>
          <a:xfrm>
            <a:off x="855360" y="6546960"/>
            <a:ext cx="39240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Footer project"/>
          <p:cNvSpPr/>
          <p:nvPr/>
        </p:nvSpPr>
        <p:spPr>
          <a:xfrm>
            <a:off x="4849920" y="6546960"/>
            <a:ext cx="24915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Footer page"/>
          <p:cNvSpPr/>
          <p:nvPr/>
        </p:nvSpPr>
        <p:spPr>
          <a:xfrm>
            <a:off x="10967760" y="6546960"/>
            <a:ext cx="34488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14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Evidence description"/>
          <p:cNvSpPr/>
          <p:nvPr/>
        </p:nvSpPr>
        <p:spPr>
          <a:xfrm>
            <a:off x="762120" y="961920"/>
            <a:ext cx="6960960" cy="380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51515"/>
                </a:solidFill>
                <a:effectLst/>
                <a:uFillTx/>
                <a:latin typeface="Calibri"/>
                <a:ea typeface="Calibri"/>
              </a:rPr>
              <a:t>Synthetic safetensors fixture • two tensors and two metadata fields • 0 findings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creenshot backing"/>
          <p:cNvSpPr/>
          <p:nvPr/>
        </p:nvSpPr>
        <p:spPr>
          <a:xfrm>
            <a:off x="647640" y="1343160"/>
            <a:ext cx="10896120" cy="480960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97" name="image16.png" descr="image16.png"/>
          <p:cNvPicPr/>
          <p:nvPr/>
        </p:nvPicPr>
        <p:blipFill>
          <a:blip r:embed="rId2"/>
          <a:srcRect l="0" t="0" r="0" b="50000"/>
          <a:stretch/>
        </p:blipFill>
        <p:spPr>
          <a:xfrm>
            <a:off x="1380960" y="1419120"/>
            <a:ext cx="9429480" cy="43336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98" name="Evidence command"/>
          <p:cNvSpPr/>
          <p:nvPr/>
        </p:nvSpPr>
        <p:spPr>
          <a:xfrm>
            <a:off x="762120" y="6181560"/>
            <a:ext cx="4640040" cy="380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2A2A"/>
                </a:solidFill>
                <a:effectLst/>
                <a:uFillTx/>
                <a:latin typeface="Calibri"/>
                <a:ea typeface="Calibri"/>
              </a:rPr>
              <a:t>Command: python3 -m modelguard scan samples/valid_model.safetensors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Evidence title"/>
          <p:cNvSpPr/>
          <p:nvPr/>
        </p:nvSpPr>
        <p:spPr>
          <a:xfrm>
            <a:off x="457200" y="292680"/>
            <a:ext cx="3056040" cy="571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A92222"/>
                </a:solidFill>
                <a:effectLst/>
                <a:uFillTx/>
                <a:latin typeface="Cambria"/>
                <a:ea typeface="Cambria"/>
              </a:rPr>
              <a:t>Automated test result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3.png" descr="image3.png"/>
          <p:cNvPicPr/>
          <p:nvPr/>
        </p:nvPicPr>
        <p:blipFill>
          <a:blip r:embed="rId1"/>
          <a:stretch/>
        </p:blipFill>
        <p:spPr>
          <a:xfrm>
            <a:off x="10561320" y="257040"/>
            <a:ext cx="1188360" cy="54612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01" name="Footer red band"/>
          <p:cNvSpPr/>
          <p:nvPr/>
        </p:nvSpPr>
        <p:spPr>
          <a:xfrm>
            <a:off x="0" y="6546960"/>
            <a:ext cx="12191760" cy="310680"/>
          </a:xfrm>
          <a:prstGeom prst="rect">
            <a:avLst/>
          </a:prstGeom>
          <a:solidFill>
            <a:srgbClr val="C71F2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2" name="Footer left panel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3" name="Footer right panel"/>
          <p:cNvSpPr/>
          <p:nvPr/>
        </p:nvSpPr>
        <p:spPr>
          <a:xfrm>
            <a:off x="10088640" y="6546960"/>
            <a:ext cx="2103120" cy="310680"/>
          </a:xfrm>
          <a:prstGeom prst="rect">
            <a:avLst/>
          </a:prstGeom>
          <a:solidFill>
            <a:srgbClr val="8D1A1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4" name="Footer group"/>
          <p:cNvSpPr/>
          <p:nvPr/>
        </p:nvSpPr>
        <p:spPr>
          <a:xfrm>
            <a:off x="855360" y="6546960"/>
            <a:ext cx="39240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Footer project"/>
          <p:cNvSpPr/>
          <p:nvPr/>
        </p:nvSpPr>
        <p:spPr>
          <a:xfrm>
            <a:off x="4849920" y="6546960"/>
            <a:ext cx="24915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Footer page"/>
          <p:cNvSpPr/>
          <p:nvPr/>
        </p:nvSpPr>
        <p:spPr>
          <a:xfrm>
            <a:off x="10967760" y="6546960"/>
            <a:ext cx="34488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15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Evidence description"/>
          <p:cNvSpPr/>
          <p:nvPr/>
        </p:nvSpPr>
        <p:spPr>
          <a:xfrm>
            <a:off x="762120" y="961920"/>
            <a:ext cx="6431040" cy="380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51515"/>
                </a:solidFill>
                <a:effectLst/>
                <a:uFillTx/>
                <a:latin typeface="Calibri"/>
                <a:ea typeface="Calibri"/>
              </a:rPr>
              <a:t>The First Review parser and structural analyser tests pass on Python 3.11.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creenshot backing"/>
          <p:cNvSpPr/>
          <p:nvPr/>
        </p:nvSpPr>
        <p:spPr>
          <a:xfrm>
            <a:off x="647640" y="1343160"/>
            <a:ext cx="10896120" cy="161892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9" name="image18.png" descr="image18.png"/>
          <p:cNvPicPr/>
          <p:nvPr/>
        </p:nvPicPr>
        <p:blipFill>
          <a:blip r:embed="rId2"/>
          <a:stretch/>
        </p:blipFill>
        <p:spPr>
          <a:xfrm>
            <a:off x="762120" y="1815120"/>
            <a:ext cx="10667520" cy="827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10" name="Evidence command"/>
          <p:cNvSpPr/>
          <p:nvPr/>
        </p:nvSpPr>
        <p:spPr>
          <a:xfrm>
            <a:off x="762120" y="3048120"/>
            <a:ext cx="4846680" cy="380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2A2A"/>
                </a:solidFill>
                <a:effectLst/>
                <a:uFillTx/>
                <a:latin typeface="Calibri"/>
                <a:ea typeface="Calibri"/>
              </a:rPr>
              <a:t>Command: uv run --no-project --with pytest --python 3.11 python -m pytest -q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sult card 1"/>
          <p:cNvSpPr/>
          <p:nvPr/>
        </p:nvSpPr>
        <p:spPr>
          <a:xfrm>
            <a:off x="762120" y="3867120"/>
            <a:ext cx="3333240" cy="142848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2" name="Result detail 1"/>
          <p:cNvSpPr/>
          <p:nvPr/>
        </p:nvSpPr>
        <p:spPr>
          <a:xfrm>
            <a:off x="1207800" y="4229280"/>
            <a:ext cx="2441880" cy="704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8D1A1A"/>
                </a:solidFill>
                <a:effectLst/>
                <a:uFillTx/>
                <a:latin typeface="Calibri"/>
                <a:ea typeface="Calibri"/>
              </a:rPr>
              <a:t>50 automated tests pass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sult card 2"/>
          <p:cNvSpPr/>
          <p:nvPr/>
        </p:nvSpPr>
        <p:spPr>
          <a:xfrm>
            <a:off x="4381560" y="3867120"/>
            <a:ext cx="3333240" cy="142848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4" name="Result detail 2"/>
          <p:cNvSpPr/>
          <p:nvPr/>
        </p:nvSpPr>
        <p:spPr>
          <a:xfrm>
            <a:off x="4745160" y="4229280"/>
            <a:ext cx="2606040" cy="704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8D1A1A"/>
                </a:solidFill>
                <a:effectLst/>
                <a:uFillTx/>
                <a:latin typeface="Calibri"/>
                <a:ea typeface="Calibri"/>
              </a:rPr>
              <a:t>7 synthetic model fixtures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sult card 3"/>
          <p:cNvSpPr/>
          <p:nvPr/>
        </p:nvSpPr>
        <p:spPr>
          <a:xfrm>
            <a:off x="8001000" y="3867120"/>
            <a:ext cx="3333240" cy="1428480"/>
          </a:xfrm>
          <a:prstGeom prst="rect">
            <a:avLst/>
          </a:prstGeom>
          <a:solidFill>
            <a:srgbClr val="F9ECEC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sult detail 3"/>
          <p:cNvSpPr/>
          <p:nvPr/>
        </p:nvSpPr>
        <p:spPr>
          <a:xfrm>
            <a:off x="8294040" y="4229280"/>
            <a:ext cx="2747160" cy="704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8D1A1A"/>
                </a:solidFill>
                <a:effectLst/>
                <a:uFillTx/>
                <a:latin typeface="Calibri"/>
                <a:ea typeface="Calibri"/>
              </a:rPr>
              <a:t>GGUF and safetensors covered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st scope"/>
          <p:cNvSpPr/>
          <p:nvPr/>
        </p:nvSpPr>
        <p:spPr>
          <a:xfrm>
            <a:off x="2781360" y="5676840"/>
            <a:ext cx="662868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D2525"/>
                </a:solidFill>
                <a:effectLst/>
                <a:uFillTx/>
                <a:latin typeface="Calibri"/>
                <a:ea typeface="Calibri"/>
              </a:rPr>
              <a:t>Tests cover valid headers, truncated inputs, offset/range anomalies and CLI/report behavior.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19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Technologies and Development Requirements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1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2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16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7"/>
          <p:cNvSpPr/>
          <p:nvPr/>
        </p:nvSpPr>
        <p:spPr>
          <a:xfrm>
            <a:off x="457200" y="1143000"/>
            <a:ext cx="5440320" cy="5074560"/>
          </a:xfrm>
          <a:prstGeom prst="roundRect">
            <a:avLst>
              <a:gd name="adj" fmla="val 1441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 8"/>
          <p:cNvSpPr/>
          <p:nvPr/>
        </p:nvSpPr>
        <p:spPr>
          <a:xfrm>
            <a:off x="731520" y="1391760"/>
            <a:ext cx="4937400" cy="279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Software Stack and Why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"/>
          <p:cNvSpPr/>
          <p:nvPr/>
        </p:nvSpPr>
        <p:spPr>
          <a:xfrm>
            <a:off x="731520" y="1828800"/>
            <a:ext cx="4937400" cy="4205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Current: Python 3.11+ — bounded static readers and CLI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Current: standard library — no runtime parser dependency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Current: pytest — 50 parser, analyser and CLI tests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Current: GitHub Actions — Python 3.11 and 3.13 tests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Planned: Jinja2 syntax inspection without template rendering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Planned: AFL++ and Clang/LLVM for GGUF parser fuzzing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Planned: sanitizers and pinned targets for crash triage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6263640" y="1143000"/>
            <a:ext cx="5440320" cy="5074560"/>
          </a:xfrm>
          <a:prstGeom prst="roundRect">
            <a:avLst>
              <a:gd name="adj" fmla="val 1441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 11"/>
          <p:cNvSpPr/>
          <p:nvPr/>
        </p:nvSpPr>
        <p:spPr>
          <a:xfrm>
            <a:off x="6537960" y="1398240"/>
            <a:ext cx="4937400" cy="266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Hardware and Rationale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2"/>
          <p:cNvSpPr/>
          <p:nvPr/>
        </p:nvSpPr>
        <p:spPr>
          <a:xfrm>
            <a:off x="6537960" y="1818720"/>
            <a:ext cx="4937400" cy="202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Planned fuzzing workstation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3"/>
          <p:cNvSpPr/>
          <p:nvPr/>
        </p:nvSpPr>
        <p:spPr>
          <a:xfrm>
            <a:off x="6537960" y="2084760"/>
            <a:ext cx="4937400" cy="1874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8+ CPU cores — parallel fuzzing throughput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16–32 GB RAM — corpus, builds and sanitizer overhead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250 GB free SSD — models, queues and crash artifacts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Broadband — controlled download of public fixtures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GPU not required — analysis does not run inference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4"/>
          <p:cNvSpPr/>
          <p:nvPr/>
        </p:nvSpPr>
        <p:spPr>
          <a:xfrm>
            <a:off x="6537960" y="4196160"/>
            <a:ext cx="4937400" cy="202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Reproducibility Controls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5"/>
          <p:cNvSpPr/>
          <p:nvPr/>
        </p:nvSpPr>
        <p:spPr>
          <a:xfrm>
            <a:off x="6537960" y="4443840"/>
            <a:ext cx="4937400" cy="569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Pin dependencies, target commits and build flags.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Separate trusted seeds from generated inputs and crash cases.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6"/>
          <p:cNvSpPr/>
          <p:nvPr/>
        </p:nvSpPr>
        <p:spPr>
          <a:xfrm>
            <a:off x="6537960" y="5540400"/>
            <a:ext cx="4937400" cy="394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7E1717"/>
                </a:solidFill>
                <a:effectLst/>
                <a:uFillTx/>
                <a:latin typeface="Calibri"/>
                <a:ea typeface="Calibri"/>
              </a:rPr>
              <a:t>Offline CLI scope: no database, cloud platform or network protocol is required. Development IDE remains a team choice.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37" name="Text 0"/>
          <p:cNvSpPr/>
          <p:nvPr/>
        </p:nvSpPr>
        <p:spPr>
          <a:xfrm>
            <a:off x="457200" y="315360"/>
            <a:ext cx="9875160" cy="4568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Updated Timeline and Work Plan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9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0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17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Activity"/>
          <p:cNvSpPr/>
          <p:nvPr/>
        </p:nvSpPr>
        <p:spPr>
          <a:xfrm>
            <a:off x="457200" y="1104840"/>
            <a:ext cx="238104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Activity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tatus"/>
          <p:cNvSpPr/>
          <p:nvPr/>
        </p:nvSpPr>
        <p:spPr>
          <a:xfrm>
            <a:off x="278136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Status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W1"/>
          <p:cNvSpPr/>
          <p:nvPr/>
        </p:nvSpPr>
        <p:spPr>
          <a:xfrm>
            <a:off x="373392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W2"/>
          <p:cNvSpPr/>
          <p:nvPr/>
        </p:nvSpPr>
        <p:spPr>
          <a:xfrm>
            <a:off x="462924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W3"/>
          <p:cNvSpPr/>
          <p:nvPr/>
        </p:nvSpPr>
        <p:spPr>
          <a:xfrm>
            <a:off x="552456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W4"/>
          <p:cNvSpPr/>
          <p:nvPr/>
        </p:nvSpPr>
        <p:spPr>
          <a:xfrm>
            <a:off x="641988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W5"/>
          <p:cNvSpPr/>
          <p:nvPr/>
        </p:nvSpPr>
        <p:spPr>
          <a:xfrm>
            <a:off x="731520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W6"/>
          <p:cNvSpPr/>
          <p:nvPr/>
        </p:nvSpPr>
        <p:spPr>
          <a:xfrm>
            <a:off x="821052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W7"/>
          <p:cNvSpPr/>
          <p:nvPr/>
        </p:nvSpPr>
        <p:spPr>
          <a:xfrm>
            <a:off x="910584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W8"/>
          <p:cNvSpPr/>
          <p:nvPr/>
        </p:nvSpPr>
        <p:spPr>
          <a:xfrm>
            <a:off x="10001160" y="1104840"/>
            <a:ext cx="894960" cy="323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W8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Design freeze"/>
          <p:cNvSpPr/>
          <p:nvPr/>
        </p:nvSpPr>
        <p:spPr>
          <a:xfrm>
            <a:off x="457200" y="1571760"/>
            <a:ext cx="228564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Design freeze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Complete"/>
          <p:cNvSpPr/>
          <p:nvPr/>
        </p:nvSpPr>
        <p:spPr>
          <a:xfrm>
            <a:off x="2781360" y="1571760"/>
            <a:ext cx="89496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71920"/>
                </a:solidFill>
                <a:effectLst/>
                <a:uFillTx/>
                <a:latin typeface="Calibri"/>
                <a:ea typeface="Calibri"/>
              </a:rPr>
              <a:t>Complete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"/>
          <p:cNvSpPr/>
          <p:nvPr/>
        </p:nvSpPr>
        <p:spPr>
          <a:xfrm>
            <a:off x="373392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7" name="Rectangle"/>
          <p:cNvSpPr/>
          <p:nvPr/>
        </p:nvSpPr>
        <p:spPr>
          <a:xfrm>
            <a:off x="462924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8" name="Rectangle"/>
          <p:cNvSpPr/>
          <p:nvPr/>
        </p:nvSpPr>
        <p:spPr>
          <a:xfrm>
            <a:off x="552456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9" name="Rectangle"/>
          <p:cNvSpPr/>
          <p:nvPr/>
        </p:nvSpPr>
        <p:spPr>
          <a:xfrm>
            <a:off x="641988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"/>
          <p:cNvSpPr/>
          <p:nvPr/>
        </p:nvSpPr>
        <p:spPr>
          <a:xfrm>
            <a:off x="731520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1" name="Rectangle"/>
          <p:cNvSpPr/>
          <p:nvPr/>
        </p:nvSpPr>
        <p:spPr>
          <a:xfrm>
            <a:off x="821052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2" name="Rectangle"/>
          <p:cNvSpPr/>
          <p:nvPr/>
        </p:nvSpPr>
        <p:spPr>
          <a:xfrm>
            <a:off x="910584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3" name="Rectangle"/>
          <p:cNvSpPr/>
          <p:nvPr/>
        </p:nvSpPr>
        <p:spPr>
          <a:xfrm>
            <a:off x="10001160" y="14670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4" name="Rectangle"/>
          <p:cNvSpPr/>
          <p:nvPr/>
        </p:nvSpPr>
        <p:spPr>
          <a:xfrm>
            <a:off x="3800520" y="1628640"/>
            <a:ext cx="1657080" cy="285480"/>
          </a:xfrm>
          <a:prstGeom prst="rect">
            <a:avLst/>
          </a:prstGeom>
          <a:solidFill>
            <a:srgbClr val="D71920"/>
          </a:solidFill>
          <a:ln w="0">
            <a:solidFill>
              <a:srgbClr val="D7192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5" name="Format parser &amp; structural rules"/>
          <p:cNvSpPr/>
          <p:nvPr/>
        </p:nvSpPr>
        <p:spPr>
          <a:xfrm>
            <a:off x="457200" y="2181240"/>
            <a:ext cx="228564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Format parser &amp; structural rules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Complete"/>
          <p:cNvSpPr/>
          <p:nvPr/>
        </p:nvSpPr>
        <p:spPr>
          <a:xfrm>
            <a:off x="2781360" y="2181240"/>
            <a:ext cx="89496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36A00"/>
                </a:solidFill>
                <a:effectLst/>
                <a:uFillTx/>
                <a:latin typeface="Calibri"/>
                <a:ea typeface="Calibri"/>
              </a:rPr>
              <a:t>Complete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"/>
          <p:cNvSpPr/>
          <p:nvPr/>
        </p:nvSpPr>
        <p:spPr>
          <a:xfrm>
            <a:off x="373392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"/>
          <p:cNvSpPr/>
          <p:nvPr/>
        </p:nvSpPr>
        <p:spPr>
          <a:xfrm>
            <a:off x="462924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9" name="Rectangle"/>
          <p:cNvSpPr/>
          <p:nvPr/>
        </p:nvSpPr>
        <p:spPr>
          <a:xfrm>
            <a:off x="552456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0" name="Rectangle"/>
          <p:cNvSpPr/>
          <p:nvPr/>
        </p:nvSpPr>
        <p:spPr>
          <a:xfrm>
            <a:off x="641988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1" name="Rectangle"/>
          <p:cNvSpPr/>
          <p:nvPr/>
        </p:nvSpPr>
        <p:spPr>
          <a:xfrm>
            <a:off x="731520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2" name="Rectangle"/>
          <p:cNvSpPr/>
          <p:nvPr/>
        </p:nvSpPr>
        <p:spPr>
          <a:xfrm>
            <a:off x="821052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3" name="Rectangle"/>
          <p:cNvSpPr/>
          <p:nvPr/>
        </p:nvSpPr>
        <p:spPr>
          <a:xfrm>
            <a:off x="910584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4" name="Rectangle"/>
          <p:cNvSpPr/>
          <p:nvPr/>
        </p:nvSpPr>
        <p:spPr>
          <a:xfrm>
            <a:off x="10001160" y="20764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5" name="Rectangle"/>
          <p:cNvSpPr/>
          <p:nvPr/>
        </p:nvSpPr>
        <p:spPr>
          <a:xfrm>
            <a:off x="4695840" y="2238480"/>
            <a:ext cx="2552400" cy="285480"/>
          </a:xfrm>
          <a:prstGeom prst="rect">
            <a:avLst/>
          </a:prstGeom>
          <a:solidFill>
            <a:srgbClr val="E39B19"/>
          </a:solidFill>
          <a:ln w="0">
            <a:solidFill>
              <a:srgbClr val="E39B19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mplate analysis"/>
          <p:cNvSpPr/>
          <p:nvPr/>
        </p:nvSpPr>
        <p:spPr>
          <a:xfrm>
            <a:off x="457200" y="2790720"/>
            <a:ext cx="228564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Template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nned"/>
          <p:cNvSpPr/>
          <p:nvPr/>
        </p:nvSpPr>
        <p:spPr>
          <a:xfrm>
            <a:off x="2781360" y="2790720"/>
            <a:ext cx="89496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36A00"/>
                </a:solidFill>
                <a:effectLst/>
                <a:uFillTx/>
                <a:latin typeface="Calibri"/>
                <a:ea typeface="Calibri"/>
              </a:rPr>
              <a:t>Planned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"/>
          <p:cNvSpPr/>
          <p:nvPr/>
        </p:nvSpPr>
        <p:spPr>
          <a:xfrm>
            <a:off x="373392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9" name="Rectangle"/>
          <p:cNvSpPr/>
          <p:nvPr/>
        </p:nvSpPr>
        <p:spPr>
          <a:xfrm>
            <a:off x="462924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"/>
          <p:cNvSpPr/>
          <p:nvPr/>
        </p:nvSpPr>
        <p:spPr>
          <a:xfrm>
            <a:off x="552456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1" name="Rectangle"/>
          <p:cNvSpPr/>
          <p:nvPr/>
        </p:nvSpPr>
        <p:spPr>
          <a:xfrm>
            <a:off x="641988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2" name="Rectangle"/>
          <p:cNvSpPr/>
          <p:nvPr/>
        </p:nvSpPr>
        <p:spPr>
          <a:xfrm>
            <a:off x="731520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3" name="Rectangle"/>
          <p:cNvSpPr/>
          <p:nvPr/>
        </p:nvSpPr>
        <p:spPr>
          <a:xfrm>
            <a:off x="821052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4" name="Rectangle"/>
          <p:cNvSpPr/>
          <p:nvPr/>
        </p:nvSpPr>
        <p:spPr>
          <a:xfrm>
            <a:off x="910584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5" name="Rectangle"/>
          <p:cNvSpPr/>
          <p:nvPr/>
        </p:nvSpPr>
        <p:spPr>
          <a:xfrm>
            <a:off x="10001160" y="26859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6" name="Rectangle"/>
          <p:cNvSpPr/>
          <p:nvPr/>
        </p:nvSpPr>
        <p:spPr>
          <a:xfrm>
            <a:off x="5591160" y="2847960"/>
            <a:ext cx="2552400" cy="285480"/>
          </a:xfrm>
          <a:prstGeom prst="rect">
            <a:avLst/>
          </a:prstGeom>
          <a:solidFill>
            <a:srgbClr val="E39B19"/>
          </a:solidFill>
          <a:ln w="0">
            <a:solidFill>
              <a:srgbClr val="E39B19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7" name="Fuzz harness &amp; seed corpus"/>
          <p:cNvSpPr/>
          <p:nvPr/>
        </p:nvSpPr>
        <p:spPr>
          <a:xfrm>
            <a:off x="457200" y="3400560"/>
            <a:ext cx="228564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Fuzz harness &amp; seed corpus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nned"/>
          <p:cNvSpPr/>
          <p:nvPr/>
        </p:nvSpPr>
        <p:spPr>
          <a:xfrm>
            <a:off x="2781360" y="3400560"/>
            <a:ext cx="89496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Planned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"/>
          <p:cNvSpPr/>
          <p:nvPr/>
        </p:nvSpPr>
        <p:spPr>
          <a:xfrm>
            <a:off x="373392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0" name="Rectangle"/>
          <p:cNvSpPr/>
          <p:nvPr/>
        </p:nvSpPr>
        <p:spPr>
          <a:xfrm>
            <a:off x="462924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1" name="Rectangle"/>
          <p:cNvSpPr/>
          <p:nvPr/>
        </p:nvSpPr>
        <p:spPr>
          <a:xfrm>
            <a:off x="552456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2" name="Rectangle"/>
          <p:cNvSpPr/>
          <p:nvPr/>
        </p:nvSpPr>
        <p:spPr>
          <a:xfrm>
            <a:off x="641988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3" name="Rectangle"/>
          <p:cNvSpPr/>
          <p:nvPr/>
        </p:nvSpPr>
        <p:spPr>
          <a:xfrm>
            <a:off x="731520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4" name="Rectangle"/>
          <p:cNvSpPr/>
          <p:nvPr/>
        </p:nvSpPr>
        <p:spPr>
          <a:xfrm>
            <a:off x="821052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5" name="Rectangle"/>
          <p:cNvSpPr/>
          <p:nvPr/>
        </p:nvSpPr>
        <p:spPr>
          <a:xfrm>
            <a:off x="910584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6" name="Rectangle"/>
          <p:cNvSpPr/>
          <p:nvPr/>
        </p:nvSpPr>
        <p:spPr>
          <a:xfrm>
            <a:off x="10001160" y="329580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7" name="Rectangle"/>
          <p:cNvSpPr/>
          <p:nvPr/>
        </p:nvSpPr>
        <p:spPr>
          <a:xfrm>
            <a:off x="6486480" y="3457440"/>
            <a:ext cx="2552400" cy="285480"/>
          </a:xfrm>
          <a:prstGeom prst="rect">
            <a:avLst/>
          </a:prstGeom>
          <a:solidFill>
            <a:srgbClr val="BFC3C7"/>
          </a:solidFill>
          <a:ln w="0">
            <a:solidFill>
              <a:srgbClr val="BFC3C7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8" name="Integration &amp; validation"/>
          <p:cNvSpPr/>
          <p:nvPr/>
        </p:nvSpPr>
        <p:spPr>
          <a:xfrm>
            <a:off x="457200" y="4010040"/>
            <a:ext cx="228564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Integration &amp; validation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M1/M2 done"/>
          <p:cNvSpPr/>
          <p:nvPr/>
        </p:nvSpPr>
        <p:spPr>
          <a:xfrm>
            <a:off x="2781360" y="4010040"/>
            <a:ext cx="894960" cy="410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M1/M2 done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"/>
          <p:cNvSpPr/>
          <p:nvPr/>
        </p:nvSpPr>
        <p:spPr>
          <a:xfrm>
            <a:off x="373392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1" name="Rectangle"/>
          <p:cNvSpPr/>
          <p:nvPr/>
        </p:nvSpPr>
        <p:spPr>
          <a:xfrm>
            <a:off x="462924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2" name="Rectangle"/>
          <p:cNvSpPr/>
          <p:nvPr/>
        </p:nvSpPr>
        <p:spPr>
          <a:xfrm>
            <a:off x="552456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3" name="Rectangle"/>
          <p:cNvSpPr/>
          <p:nvPr/>
        </p:nvSpPr>
        <p:spPr>
          <a:xfrm>
            <a:off x="641988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4" name="Rectangle"/>
          <p:cNvSpPr/>
          <p:nvPr/>
        </p:nvSpPr>
        <p:spPr>
          <a:xfrm>
            <a:off x="731520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5" name="Rectangle"/>
          <p:cNvSpPr/>
          <p:nvPr/>
        </p:nvSpPr>
        <p:spPr>
          <a:xfrm>
            <a:off x="821052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6" name="Rectangle"/>
          <p:cNvSpPr/>
          <p:nvPr/>
        </p:nvSpPr>
        <p:spPr>
          <a:xfrm>
            <a:off x="910584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7" name="Rectangle"/>
          <p:cNvSpPr/>
          <p:nvPr/>
        </p:nvSpPr>
        <p:spPr>
          <a:xfrm>
            <a:off x="10001160" y="390528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8" name="Rectangle"/>
          <p:cNvSpPr/>
          <p:nvPr/>
        </p:nvSpPr>
        <p:spPr>
          <a:xfrm>
            <a:off x="7381800" y="4067280"/>
            <a:ext cx="2552400" cy="285480"/>
          </a:xfrm>
          <a:prstGeom prst="rect">
            <a:avLst/>
          </a:prstGeom>
          <a:solidFill>
            <a:srgbClr val="BFC3C7"/>
          </a:solidFill>
          <a:ln w="0">
            <a:solidFill>
              <a:srgbClr val="BFC3C7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9" name="Documentation &amp; Review 2"/>
          <p:cNvSpPr/>
          <p:nvPr/>
        </p:nvSpPr>
        <p:spPr>
          <a:xfrm>
            <a:off x="457200" y="4619520"/>
            <a:ext cx="228564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2424"/>
                </a:solidFill>
                <a:effectLst/>
                <a:uFillTx/>
                <a:latin typeface="Calibri"/>
                <a:ea typeface="Calibri"/>
              </a:rPr>
              <a:t>Documentation &amp; Review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nned"/>
          <p:cNvSpPr/>
          <p:nvPr/>
        </p:nvSpPr>
        <p:spPr>
          <a:xfrm>
            <a:off x="2781360" y="4619520"/>
            <a:ext cx="894960" cy="3996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Planned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"/>
          <p:cNvSpPr/>
          <p:nvPr/>
        </p:nvSpPr>
        <p:spPr>
          <a:xfrm>
            <a:off x="373392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2" name="Rectangle"/>
          <p:cNvSpPr/>
          <p:nvPr/>
        </p:nvSpPr>
        <p:spPr>
          <a:xfrm>
            <a:off x="462924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3" name="Rectangle"/>
          <p:cNvSpPr/>
          <p:nvPr/>
        </p:nvSpPr>
        <p:spPr>
          <a:xfrm>
            <a:off x="552456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4" name="Rectangle"/>
          <p:cNvSpPr/>
          <p:nvPr/>
        </p:nvSpPr>
        <p:spPr>
          <a:xfrm>
            <a:off x="641988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5" name="Rectangle"/>
          <p:cNvSpPr/>
          <p:nvPr/>
        </p:nvSpPr>
        <p:spPr>
          <a:xfrm>
            <a:off x="731520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6" name="Rectangle"/>
          <p:cNvSpPr/>
          <p:nvPr/>
        </p:nvSpPr>
        <p:spPr>
          <a:xfrm>
            <a:off x="821052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7" name="Rectangle"/>
          <p:cNvSpPr/>
          <p:nvPr/>
        </p:nvSpPr>
        <p:spPr>
          <a:xfrm>
            <a:off x="910584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8" name="Rectangle"/>
          <p:cNvSpPr/>
          <p:nvPr/>
        </p:nvSpPr>
        <p:spPr>
          <a:xfrm>
            <a:off x="10001160" y="4514760"/>
            <a:ext cx="894960" cy="609120"/>
          </a:xfrm>
          <a:prstGeom prst="rect">
            <a:avLst/>
          </a:prstGeom>
          <a:solidFill>
            <a:srgbClr val="FFFFFF"/>
          </a:solidFill>
          <a:ln w="0">
            <a:solidFill>
              <a:srgbClr val="D5D5D5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9" name="Rectangle"/>
          <p:cNvSpPr/>
          <p:nvPr/>
        </p:nvSpPr>
        <p:spPr>
          <a:xfrm>
            <a:off x="9172440" y="4676760"/>
            <a:ext cx="1657080" cy="285480"/>
          </a:xfrm>
          <a:prstGeom prst="rect">
            <a:avLst/>
          </a:prstGeom>
          <a:solidFill>
            <a:srgbClr val="BFC3C7"/>
          </a:solidFill>
          <a:ln w="0">
            <a:solidFill>
              <a:srgbClr val="BFC3C7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0" name="Timeline evidence note"/>
          <p:cNvSpPr/>
          <p:nvPr/>
        </p:nvSpPr>
        <p:spPr>
          <a:xfrm>
            <a:off x="457200" y="5924520"/>
            <a:ext cx="11246760" cy="342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tIns="19080" rIns="19080" bIns="1908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M1/M2 implementation and tests are on main. Timeline bars for Modules 3–5 are planned work.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22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Challenges and Mitigations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4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5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18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7"/>
          <p:cNvSpPr/>
          <p:nvPr/>
        </p:nvSpPr>
        <p:spPr>
          <a:xfrm>
            <a:off x="457200" y="114300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0" name="Shape 8"/>
          <p:cNvSpPr/>
          <p:nvPr/>
        </p:nvSpPr>
        <p:spPr>
          <a:xfrm>
            <a:off x="658440" y="134424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 9"/>
          <p:cNvSpPr/>
          <p:nvPr/>
        </p:nvSpPr>
        <p:spPr>
          <a:xfrm>
            <a:off x="658440" y="142236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0"/>
          <p:cNvSpPr/>
          <p:nvPr/>
        </p:nvSpPr>
        <p:spPr>
          <a:xfrm>
            <a:off x="1143000" y="130752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Format Complexity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1"/>
          <p:cNvSpPr/>
          <p:nvPr/>
        </p:nvSpPr>
        <p:spPr>
          <a:xfrm>
            <a:off x="685800" y="180144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GGUF versions and tensor encodings vary. Pin the initial scope and expand it through tested adapters.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2"/>
          <p:cNvSpPr/>
          <p:nvPr/>
        </p:nvSpPr>
        <p:spPr>
          <a:xfrm>
            <a:off x="4297680" y="114300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5" name="Shape 13"/>
          <p:cNvSpPr/>
          <p:nvPr/>
        </p:nvSpPr>
        <p:spPr>
          <a:xfrm>
            <a:off x="4498920" y="134424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 14"/>
          <p:cNvSpPr/>
          <p:nvPr/>
        </p:nvSpPr>
        <p:spPr>
          <a:xfrm>
            <a:off x="4498920" y="142236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5"/>
          <p:cNvSpPr/>
          <p:nvPr/>
        </p:nvSpPr>
        <p:spPr>
          <a:xfrm>
            <a:off x="4983480" y="130752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Template Ambiguity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6"/>
          <p:cNvSpPr/>
          <p:nvPr/>
        </p:nvSpPr>
        <p:spPr>
          <a:xfrm>
            <a:off x="4526280" y="180144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Custom templates can be legitimate. Use pinned references and retain evidence for human review.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7"/>
          <p:cNvSpPr/>
          <p:nvPr/>
        </p:nvSpPr>
        <p:spPr>
          <a:xfrm>
            <a:off x="8138160" y="114300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0" name="Shape 18"/>
          <p:cNvSpPr/>
          <p:nvPr/>
        </p:nvSpPr>
        <p:spPr>
          <a:xfrm>
            <a:off x="8339400" y="134424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 19"/>
          <p:cNvSpPr/>
          <p:nvPr/>
        </p:nvSpPr>
        <p:spPr>
          <a:xfrm>
            <a:off x="8339400" y="142236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0"/>
          <p:cNvSpPr/>
          <p:nvPr/>
        </p:nvSpPr>
        <p:spPr>
          <a:xfrm>
            <a:off x="8823960" y="130752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Large Model Files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1"/>
          <p:cNvSpPr/>
          <p:nvPr/>
        </p:nvSpPr>
        <p:spPr>
          <a:xfrm>
            <a:off x="8366760" y="180144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Bound allocations and metadata sizes. Inspect headers and ranges without loading tensor weights for inference.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2"/>
          <p:cNvSpPr/>
          <p:nvPr/>
        </p:nvSpPr>
        <p:spPr>
          <a:xfrm>
            <a:off x="457200" y="329184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5" name="Shape 23"/>
          <p:cNvSpPr/>
          <p:nvPr/>
        </p:nvSpPr>
        <p:spPr>
          <a:xfrm>
            <a:off x="658440" y="3493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6" name="Text 24"/>
          <p:cNvSpPr/>
          <p:nvPr/>
        </p:nvSpPr>
        <p:spPr>
          <a:xfrm>
            <a:off x="658440" y="357120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5"/>
          <p:cNvSpPr/>
          <p:nvPr/>
        </p:nvSpPr>
        <p:spPr>
          <a:xfrm>
            <a:off x="1143000" y="345636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Fuzzing Coverage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6"/>
          <p:cNvSpPr/>
          <p:nvPr/>
        </p:nvSpPr>
        <p:spPr>
          <a:xfrm>
            <a:off x="685800" y="395028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Many mutations fail at the header. Use diverse valid seeds and focus harnesses on reachable parser paths.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7"/>
          <p:cNvSpPr/>
          <p:nvPr/>
        </p:nvSpPr>
        <p:spPr>
          <a:xfrm>
            <a:off x="4297680" y="329184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0" name="Shape 28"/>
          <p:cNvSpPr/>
          <p:nvPr/>
        </p:nvSpPr>
        <p:spPr>
          <a:xfrm>
            <a:off x="4498920" y="3493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 29"/>
          <p:cNvSpPr/>
          <p:nvPr/>
        </p:nvSpPr>
        <p:spPr>
          <a:xfrm>
            <a:off x="4498920" y="357120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30"/>
          <p:cNvSpPr/>
          <p:nvPr/>
        </p:nvSpPr>
        <p:spPr>
          <a:xfrm>
            <a:off x="4983480" y="345636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Crash Interpretation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31"/>
          <p:cNvSpPr/>
          <p:nvPr/>
        </p:nvSpPr>
        <p:spPr>
          <a:xfrm>
            <a:off x="4526280" y="395028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A crash may indicate a bug rather than an exploitable vulnerability. Reproduce, minimize and investigate each case.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32"/>
          <p:cNvSpPr/>
          <p:nvPr/>
        </p:nvSpPr>
        <p:spPr>
          <a:xfrm>
            <a:off x="8138160" y="3291840"/>
            <a:ext cx="3611520" cy="187416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5" name="Shape 33"/>
          <p:cNvSpPr/>
          <p:nvPr/>
        </p:nvSpPr>
        <p:spPr>
          <a:xfrm>
            <a:off x="8339400" y="3493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 34"/>
          <p:cNvSpPr/>
          <p:nvPr/>
        </p:nvSpPr>
        <p:spPr>
          <a:xfrm>
            <a:off x="8339400" y="357120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5"/>
          <p:cNvSpPr/>
          <p:nvPr/>
        </p:nvSpPr>
        <p:spPr>
          <a:xfrm>
            <a:off x="8823960" y="345636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False Confidence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6"/>
          <p:cNvSpPr/>
          <p:nvPr/>
        </p:nvSpPr>
        <p:spPr>
          <a:xfrm>
            <a:off x="8366760" y="395028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Rules cannot detect every threat. Preserve unsupported cases and use NO FINDINGS only within completed scan coverage.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60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Remaining Work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2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3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19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7"/>
          <p:cNvSpPr/>
          <p:nvPr/>
        </p:nvSpPr>
        <p:spPr>
          <a:xfrm>
            <a:off x="457200" y="1149840"/>
            <a:ext cx="3611520" cy="209952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8" name="Shape 8"/>
          <p:cNvSpPr/>
          <p:nvPr/>
        </p:nvSpPr>
        <p:spPr>
          <a:xfrm>
            <a:off x="658440" y="1351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 9"/>
          <p:cNvSpPr/>
          <p:nvPr/>
        </p:nvSpPr>
        <p:spPr>
          <a:xfrm>
            <a:off x="658440" y="142956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0"/>
          <p:cNvSpPr/>
          <p:nvPr/>
        </p:nvSpPr>
        <p:spPr>
          <a:xfrm>
            <a:off x="1143000" y="131472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Parser Hardening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1"/>
          <p:cNvSpPr/>
          <p:nvPr/>
        </p:nvSpPr>
        <p:spPr>
          <a:xfrm>
            <a:off x="685800" y="185004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Extend verified GGML type coverage and test larger real model headers without loading weights.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2"/>
          <p:cNvSpPr/>
          <p:nvPr/>
        </p:nvSpPr>
        <p:spPr>
          <a:xfrm>
            <a:off x="4297680" y="1149840"/>
            <a:ext cx="3611520" cy="209952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3" name="Shape 13"/>
          <p:cNvSpPr/>
          <p:nvPr/>
        </p:nvSpPr>
        <p:spPr>
          <a:xfrm>
            <a:off x="4498920" y="1351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 14"/>
          <p:cNvSpPr/>
          <p:nvPr/>
        </p:nvSpPr>
        <p:spPr>
          <a:xfrm>
            <a:off x="4498920" y="142956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5"/>
          <p:cNvSpPr/>
          <p:nvPr/>
        </p:nvSpPr>
        <p:spPr>
          <a:xfrm>
            <a:off x="4983480" y="131472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Template Rules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6"/>
          <p:cNvSpPr/>
          <p:nvPr/>
        </p:nvSpPr>
        <p:spPr>
          <a:xfrm>
            <a:off x="4526280" y="185004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Build syntax and text checks, define trusted references and evaluate legitimate template variations.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7"/>
          <p:cNvSpPr/>
          <p:nvPr/>
        </p:nvSpPr>
        <p:spPr>
          <a:xfrm>
            <a:off x="8138160" y="1149840"/>
            <a:ext cx="3611520" cy="209952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8" name="Shape 18"/>
          <p:cNvSpPr/>
          <p:nvPr/>
        </p:nvSpPr>
        <p:spPr>
          <a:xfrm>
            <a:off x="8339400" y="13510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 19"/>
          <p:cNvSpPr/>
          <p:nvPr/>
        </p:nvSpPr>
        <p:spPr>
          <a:xfrm>
            <a:off x="8339400" y="142956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0"/>
          <p:cNvSpPr/>
          <p:nvPr/>
        </p:nvSpPr>
        <p:spPr>
          <a:xfrm>
            <a:off x="8823960" y="131472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Fuzzing Campaign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1"/>
          <p:cNvSpPr/>
          <p:nvPr/>
        </p:nvSpPr>
        <p:spPr>
          <a:xfrm>
            <a:off x="8366760" y="185004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Build target harnesses, prepare seed corpora and record repeatable coverage and crash-triage results.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2"/>
          <p:cNvSpPr/>
          <p:nvPr/>
        </p:nvSpPr>
        <p:spPr>
          <a:xfrm>
            <a:off x="457200" y="3650040"/>
            <a:ext cx="3611520" cy="209952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3" name="Shape 23"/>
          <p:cNvSpPr/>
          <p:nvPr/>
        </p:nvSpPr>
        <p:spPr>
          <a:xfrm>
            <a:off x="658440" y="38512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 24"/>
          <p:cNvSpPr/>
          <p:nvPr/>
        </p:nvSpPr>
        <p:spPr>
          <a:xfrm>
            <a:off x="658440" y="392940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5"/>
          <p:cNvSpPr/>
          <p:nvPr/>
        </p:nvSpPr>
        <p:spPr>
          <a:xfrm>
            <a:off x="1143000" y="381456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Integration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6"/>
          <p:cNvSpPr/>
          <p:nvPr/>
        </p:nvSpPr>
        <p:spPr>
          <a:xfrm>
            <a:off x="685800" y="434988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Connect Modules 3–5 to the existing CLI and preserve stable JSON fields and controlled failures.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7"/>
          <p:cNvSpPr/>
          <p:nvPr/>
        </p:nvSpPr>
        <p:spPr>
          <a:xfrm>
            <a:off x="4297680" y="3650040"/>
            <a:ext cx="3611520" cy="209952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8" name="Shape 28"/>
          <p:cNvSpPr/>
          <p:nvPr/>
        </p:nvSpPr>
        <p:spPr>
          <a:xfrm>
            <a:off x="4498920" y="38512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 29"/>
          <p:cNvSpPr/>
          <p:nvPr/>
        </p:nvSpPr>
        <p:spPr>
          <a:xfrm>
            <a:off x="4498920" y="392940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0"/>
          <p:cNvSpPr/>
          <p:nvPr/>
        </p:nvSpPr>
        <p:spPr>
          <a:xfrm>
            <a:off x="4983480" y="381456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Evaluation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1"/>
          <p:cNvSpPr/>
          <p:nvPr/>
        </p:nvSpPr>
        <p:spPr>
          <a:xfrm>
            <a:off x="4526280" y="434988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Measure detection errors and resource use on a labeled corpus. Compare baselines only where their supported scope overlaps.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32"/>
          <p:cNvSpPr/>
          <p:nvPr/>
        </p:nvSpPr>
        <p:spPr>
          <a:xfrm>
            <a:off x="8138160" y="3650040"/>
            <a:ext cx="3611520" cy="2099520"/>
          </a:xfrm>
          <a:prstGeom prst="roundRect">
            <a:avLst>
              <a:gd name="adj" fmla="val 3902"/>
            </a:avLst>
          </a:prstGeom>
          <a:solidFill>
            <a:srgbClr val="F7EAE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3" name="Shape 33"/>
          <p:cNvSpPr/>
          <p:nvPr/>
        </p:nvSpPr>
        <p:spPr>
          <a:xfrm>
            <a:off x="8339400" y="3851280"/>
            <a:ext cx="365400" cy="365400"/>
          </a:xfrm>
          <a:prstGeom prst="ellipse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 34"/>
          <p:cNvSpPr/>
          <p:nvPr/>
        </p:nvSpPr>
        <p:spPr>
          <a:xfrm>
            <a:off x="8339400" y="3929400"/>
            <a:ext cx="365400" cy="208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35"/>
          <p:cNvSpPr/>
          <p:nvPr/>
        </p:nvSpPr>
        <p:spPr>
          <a:xfrm>
            <a:off x="8823960" y="3814560"/>
            <a:ext cx="2742840" cy="253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7E1717"/>
                </a:solidFill>
                <a:effectLst/>
                <a:uFillTx/>
                <a:latin typeface="Cambria"/>
                <a:ea typeface="Cambria"/>
              </a:rPr>
              <a:t>Documentation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36"/>
          <p:cNvSpPr/>
          <p:nvPr/>
        </p:nvSpPr>
        <p:spPr>
          <a:xfrm>
            <a:off x="8366760" y="4349880"/>
            <a:ext cx="3154320" cy="684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Prepare the project report, user guide and reproducibility notes. Document confirmed issues through responsible disclosure.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Image 0" descr="Image 0"/>
          <p:cNvPicPr/>
          <p:nvPr/>
        </p:nvPicPr>
        <p:blipFill>
          <a:blip r:embed="rId1"/>
          <a:stretch/>
        </p:blipFill>
        <p:spPr>
          <a:xfrm>
            <a:off x="10561320" y="255960"/>
            <a:ext cx="1188360" cy="54828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98" name="Text 0"/>
          <p:cNvSpPr/>
          <p:nvPr/>
        </p:nvSpPr>
        <p:spPr>
          <a:xfrm>
            <a:off x="457200" y="334440"/>
            <a:ext cx="9875160" cy="418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B22121"/>
                </a:solidFill>
                <a:effectLst/>
                <a:uFillTx/>
                <a:latin typeface="Cambria"/>
                <a:ea typeface="Cambria"/>
              </a:rPr>
              <a:t>References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"/>
          <p:cNvSpPr/>
          <p:nvPr/>
        </p:nvSpPr>
        <p:spPr>
          <a:xfrm>
            <a:off x="0" y="6546960"/>
            <a:ext cx="12191400" cy="310680"/>
          </a:xfrm>
          <a:prstGeom prst="rect">
            <a:avLst/>
          </a:prstGeom>
          <a:solidFill>
            <a:srgbClr val="B2212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0" name="Shape 2"/>
          <p:cNvSpPr/>
          <p:nvPr/>
        </p:nvSpPr>
        <p:spPr>
          <a:xfrm>
            <a:off x="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1" name="Shape 3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solidFill>
            <a:srgbClr val="7E1717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 4"/>
          <p:cNvSpPr/>
          <p:nvPr/>
        </p:nvSpPr>
        <p:spPr>
          <a:xfrm>
            <a:off x="0" y="6634080"/>
            <a:ext cx="21027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5"/>
          <p:cNvSpPr/>
          <p:nvPr/>
        </p:nvSpPr>
        <p:spPr>
          <a:xfrm>
            <a:off x="2103120" y="6634080"/>
            <a:ext cx="7985160" cy="136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ModelGuard: Security for the ML Model Supply Chain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"/>
          <p:cNvSpPr/>
          <p:nvPr/>
        </p:nvSpPr>
        <p:spPr>
          <a:xfrm>
            <a:off x="10088640" y="6546960"/>
            <a:ext cx="2102760" cy="310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 / 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eferences 1 to 7"/>
          <p:cNvSpPr/>
          <p:nvPr/>
        </p:nvSpPr>
        <p:spPr>
          <a:xfrm>
            <a:off x="609480" y="1238400"/>
            <a:ext cx="10972440" cy="4857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tIns="38160" rIns="38160" bIns="38160" anchor="t">
            <a:normAutofit/>
          </a:bodyPr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[1] Kellas, A. D., et al. (2025). PickleBall: Secure Deserialization of Pickle-based Machine Learning Models. ACM CCS 2025.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2"/>
              </a:rPr>
              <a:t>arXiv:2508.15987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[2] Casey, B., Santos, J. C. S., &amp; Mirakhorli, M. (2024). AI/ML Supply Chain Attacks in Hugging Face Models. </a:t>
            </a:r>
            <a:br>
              <a:rPr sz="1800"/>
            </a:b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3"/>
              </a:rPr>
              <a:t>arXiv:2410.04490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[3] Liu, T., et al. (2025). The Art of Hide and Seek: Pickle-Based Model Supply Chain Poisoning.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4"/>
              </a:rPr>
              <a:t>arXiv:2508.19774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[4] Protect AI.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5"/>
              </a:rPr>
              <a:t>ModelScan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repository and documentation.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00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[5] ggml-org. </a:t>
            </a:r>
            <a:r>
              <a:rPr lang="en-US" sz="1800" b="0" u="sng" strike="noStrike">
                <a:solidFill>
                  <a:srgbClr val="0000FF"/>
                </a:solidFill>
                <a:effectLst/>
                <a:uFillTx/>
                <a:latin typeface="Calibri"/>
                <a:ea typeface="Calibri"/>
                <a:hlinkClick r:id="rId6"/>
              </a:rPr>
              <a:t>GGUF format specification</a:t>
            </a: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 pitchFamily="0" charset="1"/>
        <a:ea typeface="Helvetica Neue" pitchFamily="0" charset="1"/>
        <a:cs typeface="Helvetica Neue" pitchFamily="0" charset="1"/>
      </a:majorFont>
      <a:minorFont>
        <a:latin typeface="Helvetica" pitchFamily="0" charset="1"/>
        <a:ea typeface="Helvetica" pitchFamily="0" charset="1"/>
        <a:cs typeface="Helvetica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2026-09-28T18:19:46Z</dcterms:modified>
  <cp:revision>1</cp:revision>
  <dc:subject/>
  <dc:title/>
</cp:coreProperties>
</file>